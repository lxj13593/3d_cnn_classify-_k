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8"/>
  </p:notesMasterIdLst>
  <p:sldIdLst>
    <p:sldId id="276" r:id="rId2"/>
    <p:sldId id="257" r:id="rId3"/>
    <p:sldId id="270" r:id="rId4"/>
    <p:sldId id="282" r:id="rId5"/>
    <p:sldId id="286" r:id="rId6"/>
    <p:sldId id="277" r:id="rId7"/>
    <p:sldId id="288" r:id="rId8"/>
    <p:sldId id="283" r:id="rId9"/>
    <p:sldId id="290" r:id="rId10"/>
    <p:sldId id="292" r:id="rId11"/>
    <p:sldId id="289" r:id="rId12"/>
    <p:sldId id="293" r:id="rId13"/>
    <p:sldId id="294" r:id="rId14"/>
    <p:sldId id="295" r:id="rId15"/>
    <p:sldId id="285" r:id="rId16"/>
    <p:sldId id="268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8C3EC"/>
    <a:srgbClr val="C7D8F4"/>
    <a:srgbClr val="BEE9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1"/>
    <p:restoredTop sz="94648"/>
  </p:normalViewPr>
  <p:slideViewPr>
    <p:cSldViewPr snapToGrid="0" showGuides="1">
      <p:cViewPr varScale="1">
        <p:scale>
          <a:sx n="89" d="100"/>
          <a:sy n="89" d="100"/>
        </p:scale>
        <p:origin x="844" y="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BF76E2-1B5F-4640-BB9D-6A54E2BCECE6}" type="datetimeFigureOut">
              <a:rPr lang="zh-CN" altLang="en-US" smtClean="0"/>
              <a:t>2026/7/26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74045F-1AB6-44BC-80F9-CDD300B560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68691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74045F-1AB6-44BC-80F9-CDD300B560A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15748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42E51F-1E01-51F7-4431-CFD674EB1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CF083CC-9396-D068-9344-8DD0FEC376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CBC57DC-E517-B3EE-44C8-F1B3543B88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57C9D07-2F3D-D81D-E77E-F47925CD1C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74045F-1AB6-44BC-80F9-CDD300B560A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73207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74045F-1AB6-44BC-80F9-CDD300B560AD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79716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10E2D-8E11-2945-8C74-D16817D3D6B6}" type="datetimeFigureOut">
              <a:rPr kumimoji="1" lang="zh-CN" altLang="en-US" smtClean="0"/>
              <a:t>2026/7/26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4879F-D50A-9E43-B1A6-F4811A0C394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10E2D-8E11-2945-8C74-D16817D3D6B6}" type="datetimeFigureOut">
              <a:rPr kumimoji="1" lang="zh-CN" altLang="en-US" smtClean="0"/>
              <a:t>2026/7/26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4879F-D50A-9E43-B1A6-F4811A0C394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10E2D-8E11-2945-8C74-D16817D3D6B6}" type="datetimeFigureOut">
              <a:rPr kumimoji="1" lang="zh-CN" altLang="en-US" smtClean="0"/>
              <a:t>2026/7/26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4879F-D50A-9E43-B1A6-F4811A0C394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10E2D-8E11-2945-8C74-D16817D3D6B6}" type="datetimeFigureOut">
              <a:rPr kumimoji="1" lang="zh-CN" altLang="en-US" smtClean="0"/>
              <a:t>2026/7/26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4879F-D50A-9E43-B1A6-F4811A0C394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10E2D-8E11-2945-8C74-D16817D3D6B6}" type="datetimeFigureOut">
              <a:rPr kumimoji="1" lang="zh-CN" altLang="en-US" smtClean="0"/>
              <a:t>2026/7/26</a:t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4879F-D50A-9E43-B1A6-F4811A0C394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10E2D-8E11-2945-8C74-D16817D3D6B6}" type="datetimeFigureOut">
              <a:rPr kumimoji="1" lang="zh-CN" altLang="en-US" smtClean="0"/>
              <a:t>2026/7/26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4879F-D50A-9E43-B1A6-F4811A0C394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10E2D-8E11-2945-8C74-D16817D3D6B6}" type="datetimeFigureOut">
              <a:rPr kumimoji="1" lang="zh-CN" altLang="en-US" smtClean="0"/>
              <a:t>2026/7/26</a:t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4879F-D50A-9E43-B1A6-F4811A0C394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10E2D-8E11-2945-8C74-D16817D3D6B6}" type="datetimeFigureOut">
              <a:rPr kumimoji="1" lang="zh-CN" altLang="en-US" smtClean="0"/>
              <a:t>2026/7/26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4879F-D50A-9E43-B1A6-F4811A0C394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10E2D-8E11-2945-8C74-D16817D3D6B6}" type="datetimeFigureOut">
              <a:rPr kumimoji="1" lang="zh-CN" altLang="en-US" smtClean="0"/>
              <a:t>2026/7/26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4879F-D50A-9E43-B1A6-F4811A0C394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10E2D-8E11-2945-8C74-D16817D3D6B6}" type="datetimeFigureOut">
              <a:rPr kumimoji="1" lang="zh-CN" altLang="en-US" smtClean="0"/>
              <a:t>2026/7/26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4879F-D50A-9E43-B1A6-F4811A0C394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10E2D-8E11-2945-8C74-D16817D3D6B6}" type="datetimeFigureOut">
              <a:rPr kumimoji="1" lang="zh-CN" altLang="en-US" smtClean="0"/>
              <a:t>2026/7/26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4879F-D50A-9E43-B1A6-F4811A0C394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E10E2D-8E11-2945-8C74-D16817D3D6B6}" type="datetimeFigureOut">
              <a:rPr kumimoji="1" lang="zh-CN" altLang="en-US" smtClean="0"/>
              <a:t>2026/7/26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A4879F-D50A-9E43-B1A6-F4811A0C394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jp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文本框 11"/>
          <p:cNvSpPr txBox="1"/>
          <p:nvPr/>
        </p:nvSpPr>
        <p:spPr>
          <a:xfrm>
            <a:off x="1353164" y="2125676"/>
            <a:ext cx="94856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kumimoji="1" lang="zh-CN" altLang="en-US" sz="5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计算成像团队组会汇报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2341664" y="3745221"/>
            <a:ext cx="7435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kumimoji="1" lang="en-GB" altLang="zh-CN" dirty="0">
                <a:solidFill>
                  <a:schemeClr val="bg1">
                    <a:lumMod val="50000"/>
                  </a:schemeClr>
                </a:solidFill>
                <a:latin typeface="Toppan Bunkyu Midashi Mincho Extrabold" panose="02020900000000000000" pitchFamily="18" charset="-128"/>
                <a:ea typeface="Toppan Bunkyu Midashi Mincho Extrabold" panose="02020900000000000000" pitchFamily="18" charset="-128"/>
              </a:rPr>
              <a:t> </a:t>
            </a:r>
            <a:r>
              <a:rPr kumimoji="1" lang="en-US" altLang="zh-CN" dirty="0">
                <a:solidFill>
                  <a:schemeClr val="bg1">
                    <a:lumMod val="50000"/>
                  </a:schemeClr>
                </a:solidFill>
                <a:latin typeface="Toppan Bunkyu Midashi Mincho Extrabold" panose="02020900000000000000" pitchFamily="18" charset="-128"/>
                <a:ea typeface="Toppan Bunkyu Midashi Mincho Extrabold" panose="02020900000000000000" pitchFamily="18" charset="-128"/>
              </a:rPr>
              <a:t>Computational Imaging Group Meeting</a:t>
            </a:r>
            <a:r>
              <a:rPr kumimoji="1" lang="en-GB" altLang="zh-CN" dirty="0">
                <a:solidFill>
                  <a:schemeClr val="bg1">
                    <a:lumMod val="50000"/>
                  </a:schemeClr>
                </a:solidFill>
                <a:latin typeface="Toppan Bunkyu Midashi Mincho Extrabold" panose="02020900000000000000" pitchFamily="18" charset="-128"/>
                <a:ea typeface="Toppan Bunkyu Midashi Mincho Extrabold" panose="02020900000000000000" pitchFamily="18" charset="-128"/>
              </a:rPr>
              <a:t> presentation</a:t>
            </a:r>
            <a:endParaRPr kumimoji="1" lang="zh-CN" altLang="en-US" dirty="0">
              <a:solidFill>
                <a:schemeClr val="bg1">
                  <a:lumMod val="50000"/>
                </a:schemeClr>
              </a:solidFill>
              <a:latin typeface="Toppan Bunkyu Midashi Mincho Extrabold" panose="02020900000000000000" pitchFamily="18" charset="-128"/>
              <a:ea typeface="Toppan Bunkyu Midashi Mincho Extrabold" panose="02020900000000000000" pitchFamily="18" charset="-128"/>
            </a:endParaRPr>
          </a:p>
        </p:txBody>
      </p:sp>
      <p:cxnSp>
        <p:nvCxnSpPr>
          <p:cNvPr id="18" name="直线连接符 17"/>
          <p:cNvCxnSpPr/>
          <p:nvPr/>
        </p:nvCxnSpPr>
        <p:spPr>
          <a:xfrm>
            <a:off x="4260184" y="3443748"/>
            <a:ext cx="3598606" cy="0"/>
          </a:xfrm>
          <a:prstGeom prst="line">
            <a:avLst/>
          </a:prstGeom>
          <a:ln w="31750">
            <a:gradFill flip="none" rotWithShape="1">
              <a:gsLst>
                <a:gs pos="0">
                  <a:schemeClr val="accent1">
                    <a:lumMod val="5000"/>
                    <a:lumOff val="95000"/>
                    <a:alpha val="75000"/>
                  </a:schemeClr>
                </a:gs>
                <a:gs pos="44000">
                  <a:schemeClr val="accent1">
                    <a:lumMod val="75000"/>
                  </a:schemeClr>
                </a:gs>
                <a:gs pos="57000">
                  <a:schemeClr val="accent1">
                    <a:lumMod val="75000"/>
                  </a:schemeClr>
                </a:gs>
                <a:gs pos="100000">
                  <a:schemeClr val="bg1">
                    <a:alpha val="60608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4460320" y="4985142"/>
            <a:ext cx="24834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汇 报 人： 李小嘉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4460320" y="5390100"/>
            <a:ext cx="24138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指导教师：赵晓杰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4460320" y="5795058"/>
            <a:ext cx="38218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汇报时间：</a:t>
            </a: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2026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07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26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日</a:t>
            </a:r>
          </a:p>
        </p:txBody>
      </p:sp>
      <p:sp>
        <p:nvSpPr>
          <p:cNvPr id="23" name="矩形 22"/>
          <p:cNvSpPr/>
          <p:nvPr/>
        </p:nvSpPr>
        <p:spPr>
          <a:xfrm>
            <a:off x="1524" y="0"/>
            <a:ext cx="12190476" cy="1046512"/>
          </a:xfrm>
          <a:prstGeom prst="rect">
            <a:avLst/>
          </a:prstGeom>
          <a:ln>
            <a:noFill/>
          </a:ln>
          <a:effectLst>
            <a:outerShdw blurRad="701120" dist="38100" dir="6420000" sx="1000" sy="1000" algn="t" rotWithShape="0">
              <a:schemeClr val="accent1"/>
            </a:outerShdw>
            <a:reflection blurRad="433932" stA="45000" endPos="25621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9362129" y="385144"/>
            <a:ext cx="24094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zh-CN" altLang="en-US" sz="2400" b="1" i="0" dirty="0">
                <a:gradFill flip="none" rotWithShape="1">
                  <a:gsLst>
                    <a:gs pos="0">
                      <a:schemeClr val="accent1">
                        <a:lumMod val="5000"/>
                        <a:lumOff val="95000"/>
                        <a:alpha val="75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致知于行</a:t>
            </a:r>
            <a:endParaRPr lang="zh-CN" altLang="en-US" sz="2400" dirty="0">
              <a:gradFill flip="none" rotWithShape="1">
                <a:gsLst>
                  <a:gs pos="0">
                    <a:schemeClr val="accent1">
                      <a:lumMod val="5000"/>
                      <a:lumOff val="95000"/>
                      <a:alpha val="75000"/>
                    </a:schemeClr>
                  </a:gs>
                  <a:gs pos="100000">
                    <a:schemeClr val="accent1"/>
                  </a:gs>
                </a:gsLst>
                <a:lin ang="5400000" scaled="1"/>
                <a:tileRect/>
              </a:gra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2" name="Picture 2" descr="https://inews.gtimg.com/newsapp_bt/0/14705477255/1000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7" t="15650" r="2866" b="18136"/>
          <a:stretch>
            <a:fillRect/>
          </a:stretch>
        </p:blipFill>
        <p:spPr bwMode="auto">
          <a:xfrm>
            <a:off x="290935" y="145753"/>
            <a:ext cx="2311400" cy="755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圆角矩形 23"/>
          <p:cNvSpPr/>
          <p:nvPr/>
        </p:nvSpPr>
        <p:spPr>
          <a:xfrm>
            <a:off x="1268247" y="1974150"/>
            <a:ext cx="4395134" cy="2684421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reflection blurRad="273269" stA="45000" endPos="37203" dist="508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2261417" y="2483077"/>
            <a:ext cx="2374490" cy="833283"/>
          </a:xfrm>
          <a:prstGeom prst="rect">
            <a:avLst/>
          </a:prstGeom>
          <a:solidFill>
            <a:schemeClr val="accent1">
              <a:alpha val="25037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r>
              <a:rPr kumimoji="1" lang="zh-CN" altLang="en-US" sz="6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kumimoji="1" lang="zh-CN" altLang="en-US" sz="4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603034" y="3666919"/>
            <a:ext cx="17255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kumimoji="1" lang="en-US" altLang="zh-CN" sz="2000" b="1" dirty="0">
                <a:solidFill>
                  <a:schemeClr val="bg1"/>
                </a:solidFill>
                <a:latin typeface="Toppan Bunkyu Midashi Mincho Ex" panose="02020900000000000000" pitchFamily="18" charset="-128"/>
                <a:ea typeface="Toppan Bunkyu Midashi Mincho Ex" panose="02020900000000000000" pitchFamily="18" charset="-128"/>
              </a:rPr>
              <a:t>contents</a:t>
            </a:r>
            <a:endParaRPr kumimoji="1" lang="zh-CN" altLang="en-US" sz="2000" b="1" dirty="0">
              <a:solidFill>
                <a:schemeClr val="bg1"/>
              </a:solidFill>
              <a:latin typeface="Toppan Bunkyu Midashi Mincho Ex" panose="02020900000000000000" pitchFamily="18" charset="-128"/>
              <a:ea typeface="Toppan Bunkyu Midashi Mincho Ex" panose="02020900000000000000" pitchFamily="18" charset="-128"/>
            </a:endParaRPr>
          </a:p>
        </p:txBody>
      </p:sp>
      <p:cxnSp>
        <p:nvCxnSpPr>
          <p:cNvPr id="8" name="直线连接符 7"/>
          <p:cNvCxnSpPr/>
          <p:nvPr/>
        </p:nvCxnSpPr>
        <p:spPr>
          <a:xfrm>
            <a:off x="6110748" y="2263875"/>
            <a:ext cx="0" cy="2212259"/>
          </a:xfrm>
          <a:prstGeom prst="line">
            <a:avLst/>
          </a:prstGeom>
          <a:ln w="44450">
            <a:gradFill>
              <a:gsLst>
                <a:gs pos="0">
                  <a:schemeClr val="bg1"/>
                </a:gs>
                <a:gs pos="35000">
                  <a:schemeClr val="accent1"/>
                </a:gs>
                <a:gs pos="68000">
                  <a:schemeClr val="accent1"/>
                </a:gs>
                <a:gs pos="100000">
                  <a:schemeClr val="bg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圆角矩形 9"/>
          <p:cNvSpPr/>
          <p:nvPr/>
        </p:nvSpPr>
        <p:spPr>
          <a:xfrm>
            <a:off x="6725263" y="1673939"/>
            <a:ext cx="663671" cy="589936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kumimoji="1"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6725256" y="2653750"/>
            <a:ext cx="663671" cy="589936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kumimoji="1"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6739990" y="3633561"/>
            <a:ext cx="663671" cy="589936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kumimoji="1"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6725255" y="4608868"/>
            <a:ext cx="663671" cy="589936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kumimoji="1"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7713406" y="1691600"/>
            <a:ext cx="28392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kumimoji="1"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上阶段研究回顾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7713405" y="2698447"/>
            <a:ext cx="28392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kumimoji="1"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本阶段研究内容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7713406" y="3666919"/>
            <a:ext cx="17106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kumimoji="1"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研究进展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7713406" y="4642226"/>
            <a:ext cx="27321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kumimoji="1"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下一步工作计划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线连接符 9"/>
          <p:cNvCxnSpPr/>
          <p:nvPr/>
        </p:nvCxnSpPr>
        <p:spPr>
          <a:xfrm>
            <a:off x="0" y="575187"/>
            <a:ext cx="12192000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文本框 147"/>
          <p:cNvSpPr txBox="1"/>
          <p:nvPr/>
        </p:nvSpPr>
        <p:spPr>
          <a:xfrm>
            <a:off x="250722" y="59099"/>
            <a:ext cx="23030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kumimoji="1"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上阶段研究回顾</a:t>
            </a:r>
          </a:p>
        </p:txBody>
      </p:sp>
      <p:cxnSp>
        <p:nvCxnSpPr>
          <p:cNvPr id="53" name="直接连接符 5"/>
          <p:cNvCxnSpPr/>
          <p:nvPr/>
        </p:nvCxnSpPr>
        <p:spPr>
          <a:xfrm>
            <a:off x="6126480" y="1389472"/>
            <a:ext cx="0" cy="460248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" name="文本框 148"/>
          <p:cNvSpPr txBox="1"/>
          <p:nvPr/>
        </p:nvSpPr>
        <p:spPr>
          <a:xfrm>
            <a:off x="6309436" y="143424"/>
            <a:ext cx="24226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kumimoji="1"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本阶段研究内容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B635214-2D23-7604-369A-D94FC48BA62C}"/>
              </a:ext>
            </a:extLst>
          </p:cNvPr>
          <p:cNvSpPr txBox="1"/>
          <p:nvPr/>
        </p:nvSpPr>
        <p:spPr>
          <a:xfrm>
            <a:off x="893721" y="1532763"/>
            <a:ext cx="483683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      </a:t>
            </a:r>
            <a:r>
              <a:rPr lang="zh-CN" altLang="zh-CN" dirty="0"/>
              <a:t>上阶段在基线3D ResNet18的基础上，针对钻孔缺陷主要集中于头部、完整体积中大量正常区域容易稀释微小缺陷特征的问题，开展了头部ROI建模研究。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      </a:t>
            </a:r>
            <a:r>
              <a:rPr lang="zh-CN" altLang="zh-CN" dirty="0"/>
              <a:t>沿用统一的五折划分和训练参数，对96、64、48、37、32和24层头部区域进行对比，并相应调整长度方向的下采样策略。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       </a:t>
            </a:r>
            <a:r>
              <a:rPr lang="zh-CN" altLang="zh-CN" dirty="0"/>
              <a:t>实验结果表明，37层头部ROI在保留缺陷信息、减少无关区域和维持特征分辨率之间取得了较好平衡，相较完整体积基线在Recall、F1、AUC和AP等指标上获得稳定提升</a:t>
            </a:r>
            <a:r>
              <a:rPr lang="zh-CN" altLang="en-US" dirty="0"/>
              <a:t>。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FBF0F5D-3364-F25B-6703-37ABE9EE52D8}"/>
              </a:ext>
            </a:extLst>
          </p:cNvPr>
          <p:cNvSpPr txBox="1"/>
          <p:nvPr/>
        </p:nvSpPr>
        <p:spPr>
          <a:xfrm>
            <a:off x="6522410" y="2136338"/>
            <a:ext cx="509349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1.</a:t>
            </a:r>
            <a:r>
              <a:rPr lang="zh-CN" altLang="en-US" dirty="0"/>
              <a:t>新的头部实验，在</a:t>
            </a:r>
            <a:r>
              <a:rPr lang="en-US" altLang="zh-CN" dirty="0"/>
              <a:t>24</a:t>
            </a:r>
            <a:r>
              <a:rPr lang="zh-CN" altLang="en-US" dirty="0"/>
              <a:t>基础上继续保留特征图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2.</a:t>
            </a:r>
            <a:r>
              <a:rPr lang="zh-CN" altLang="zh-CN" dirty="0"/>
              <a:t> 跨板泛化能力开展研究，选取1022、1077和1305三块新板，每块</a:t>
            </a:r>
            <a:r>
              <a:rPr lang="zh-CN" altLang="en-US" dirty="0"/>
              <a:t>随机</a:t>
            </a:r>
            <a:r>
              <a:rPr lang="zh-CN" altLang="zh-CN" dirty="0"/>
              <a:t>抽取并标注490个钻孔作为外部测试数据，系统分析不同板材、灰度分布、体素间距和输入尺寸对模型性能的影响。在此基础上，对比原始尺寸与统一尺寸、完整体积与Head37模型以及不同归一化策略的测试结果，明确现有模型的跨板性能差异</a:t>
            </a:r>
            <a:r>
              <a:rPr lang="zh-CN" altLang="en-US" dirty="0"/>
              <a:t>。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3.</a:t>
            </a:r>
            <a:r>
              <a:rPr lang="zh-CN" altLang="en-US" dirty="0"/>
              <a:t>测试模型只看</a:t>
            </a:r>
            <a:r>
              <a:rPr lang="en-US" altLang="zh-CN" dirty="0" err="1"/>
              <a:t>best_loss</a:t>
            </a: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线连接符 1"/>
          <p:cNvCxnSpPr/>
          <p:nvPr/>
        </p:nvCxnSpPr>
        <p:spPr>
          <a:xfrm>
            <a:off x="0" y="575187"/>
            <a:ext cx="12192000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250722" y="59099"/>
            <a:ext cx="33080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kumimoji="1"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研究进展</a:t>
            </a:r>
            <a:endParaRPr kumimoji="1" lang="zh-CN" altLang="en-US" sz="2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: 圆角 7"/>
          <p:cNvSpPr/>
          <p:nvPr/>
        </p:nvSpPr>
        <p:spPr>
          <a:xfrm>
            <a:off x="662030" y="831894"/>
            <a:ext cx="1666833" cy="3693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新头部实验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E247B1A-497B-BCEA-7C50-764261B07E8B}"/>
              </a:ext>
            </a:extLst>
          </p:cNvPr>
          <p:cNvSpPr txBox="1"/>
          <p:nvPr/>
        </p:nvSpPr>
        <p:spPr>
          <a:xfrm>
            <a:off x="662030" y="1797498"/>
            <a:ext cx="949638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dirty="0"/>
              <a:t>原来特征图长度方向可能被压缩过度，丢失细节，在头部区域</a:t>
            </a:r>
            <a:r>
              <a:rPr lang="en-US" altLang="zh-CN" dirty="0"/>
              <a:t>24</a:t>
            </a:r>
            <a:r>
              <a:rPr lang="zh-CN" altLang="en-US" dirty="0"/>
              <a:t>的基础上继续保留特征图长度方向细节。</a:t>
            </a:r>
            <a:endParaRPr lang="en-US" altLang="zh-CN" dirty="0"/>
          </a:p>
          <a:p>
            <a:pPr>
              <a:buNone/>
            </a:pPr>
            <a:endParaRPr lang="en-US" altLang="zh-CN" dirty="0"/>
          </a:p>
          <a:p>
            <a:pPr>
              <a:buNone/>
            </a:pPr>
            <a:r>
              <a:rPr lang="zh-CN" altLang="en-US" dirty="0"/>
              <a:t>所以验证</a:t>
            </a:r>
            <a:r>
              <a:rPr lang="zh-CN" altLang="zh-CN" dirty="0"/>
              <a:t>在短头部输入中，保留更高的长度方向分辨率，是否有利于微小缺陷识别。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E1D89DA4-B032-C9C0-F0EE-AB86EDC2D0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3635180"/>
              </p:ext>
            </p:extLst>
          </p:nvPr>
        </p:nvGraphicFramePr>
        <p:xfrm>
          <a:off x="731044" y="3594100"/>
          <a:ext cx="10515600" cy="182880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81224535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22156036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24320784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模型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dirty="0"/>
                        <a:t>初始输入特征图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dirty="0"/>
                        <a:t>最后特征图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51297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原版296完整输入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dirty="0">
                          <a:latin typeface="Courier New" panose="02070309020205020404" pitchFamily="49" charset="0"/>
                        </a:rPr>
                        <a:t>1×296×37×37</a:t>
                      </a:r>
                      <a:endParaRPr lang="zh-C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>
                          <a:latin typeface="Courier New" panose="02070309020205020404" pitchFamily="49" charset="0"/>
                        </a:rPr>
                        <a:t>512×10×5×5</a:t>
                      </a:r>
                      <a:endParaRPr lang="zh-C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35627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Head ROI 24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>
                          <a:latin typeface="Courier New" panose="02070309020205020404" pitchFamily="49" charset="0"/>
                        </a:rPr>
                        <a:t>1×24×37×37</a:t>
                      </a:r>
                      <a:endParaRPr lang="zh-C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dirty="0">
                          <a:latin typeface="Courier New" panose="02070309020205020404" pitchFamily="49" charset="0"/>
                        </a:rPr>
                        <a:t>512×</a:t>
                      </a:r>
                      <a:r>
                        <a:rPr lang="zh-CN" b="1" dirty="0">
                          <a:latin typeface="Courier New" panose="02070309020205020404" pitchFamily="49" charset="0"/>
                        </a:rPr>
                        <a:t>3</a:t>
                      </a:r>
                      <a:r>
                        <a:rPr lang="zh-CN" dirty="0">
                          <a:latin typeface="Courier New" panose="02070309020205020404" pitchFamily="49" charset="0"/>
                        </a:rPr>
                        <a:t>×5×5</a:t>
                      </a:r>
                      <a:endParaRPr lang="zh-C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51811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Head ROI 37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>
                          <a:latin typeface="Courier New" panose="02070309020205020404" pitchFamily="49" charset="0"/>
                        </a:rPr>
                        <a:t>1×37×37×37</a:t>
                      </a:r>
                      <a:endParaRPr lang="zh-C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dirty="0">
                          <a:latin typeface="Courier New" panose="02070309020205020404" pitchFamily="49" charset="0"/>
                        </a:rPr>
                        <a:t>512×5×5×5</a:t>
                      </a:r>
                      <a:endParaRPr lang="zh-C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35619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Head ROI 24保留长度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>
                          <a:latin typeface="Courier New" panose="02070309020205020404" pitchFamily="49" charset="0"/>
                        </a:rPr>
                        <a:t>1×24×37×37</a:t>
                      </a:r>
                      <a:endParaRPr lang="zh-C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b="0" dirty="0">
                          <a:latin typeface="Courier New" panose="02070309020205020404" pitchFamily="49" charset="0"/>
                        </a:rPr>
                        <a:t>512×</a:t>
                      </a:r>
                      <a:r>
                        <a:rPr lang="zh-CN" b="1" dirty="0">
                          <a:latin typeface="Courier New" panose="02070309020205020404" pitchFamily="49" charset="0"/>
                        </a:rPr>
                        <a:t>6</a:t>
                      </a:r>
                      <a:r>
                        <a:rPr lang="zh-CN" b="0" dirty="0">
                          <a:latin typeface="Courier New" panose="02070309020205020404" pitchFamily="49" charset="0"/>
                        </a:rPr>
                        <a:t>×5×5</a:t>
                      </a:r>
                      <a:endParaRPr lang="zh-CN" b="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800516"/>
                  </a:ext>
                </a:extLst>
              </a:tr>
            </a:tbl>
          </a:graphicData>
        </a:graphic>
      </p:graphicFrame>
      <p:sp>
        <p:nvSpPr>
          <p:cNvPr id="9" name="矩形: 圆角 8">
            <a:extLst>
              <a:ext uri="{FF2B5EF4-FFF2-40B4-BE49-F238E27FC236}">
                <a16:creationId xmlns:a16="http://schemas.microsoft.com/office/drawing/2014/main" id="{CEEA4FD7-36D5-8EC5-E62B-B430C3D64201}"/>
              </a:ext>
            </a:extLst>
          </p:cNvPr>
          <p:cNvSpPr/>
          <p:nvPr/>
        </p:nvSpPr>
        <p:spPr>
          <a:xfrm>
            <a:off x="2436061" y="831894"/>
            <a:ext cx="1485858" cy="3693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实验过程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55FF1-A54D-F632-BDC7-DF7E4305F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线连接符 1">
            <a:extLst>
              <a:ext uri="{FF2B5EF4-FFF2-40B4-BE49-F238E27FC236}">
                <a16:creationId xmlns:a16="http://schemas.microsoft.com/office/drawing/2014/main" id="{4C24FAF2-C3BC-04A3-F274-067B3934789A}"/>
              </a:ext>
            </a:extLst>
          </p:cNvPr>
          <p:cNvCxnSpPr/>
          <p:nvPr/>
        </p:nvCxnSpPr>
        <p:spPr>
          <a:xfrm>
            <a:off x="0" y="575187"/>
            <a:ext cx="12192000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D7C306CF-2B53-A648-DC3C-8367BF1D28D6}"/>
              </a:ext>
            </a:extLst>
          </p:cNvPr>
          <p:cNvSpPr txBox="1"/>
          <p:nvPr/>
        </p:nvSpPr>
        <p:spPr>
          <a:xfrm>
            <a:off x="250722" y="59099"/>
            <a:ext cx="33080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kumimoji="1"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研究进展</a:t>
            </a:r>
            <a:endParaRPr kumimoji="1" lang="zh-CN" altLang="en-US" sz="2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47801A1C-7D2C-1F59-84C7-71121FCED139}"/>
              </a:ext>
            </a:extLst>
          </p:cNvPr>
          <p:cNvSpPr/>
          <p:nvPr/>
        </p:nvSpPr>
        <p:spPr>
          <a:xfrm>
            <a:off x="662030" y="831894"/>
            <a:ext cx="1666833" cy="3693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新头部实验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A18874B8-C7DC-E520-A6A1-508276998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957" y="1767603"/>
            <a:ext cx="10674899" cy="3022755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EAD93C29-FB59-7005-1B35-E7FAFCF4749E}"/>
              </a:ext>
            </a:extLst>
          </p:cNvPr>
          <p:cNvSpPr txBox="1"/>
          <p:nvPr/>
        </p:nvSpPr>
        <p:spPr>
          <a:xfrm>
            <a:off x="662030" y="5083575"/>
            <a:ext cx="967497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/>
              <a:t>普通Head24相比Head37略差，</a:t>
            </a:r>
            <a:r>
              <a:rPr lang="zh-CN" altLang="en-US" dirty="0"/>
              <a:t>而</a:t>
            </a:r>
            <a:r>
              <a:rPr lang="en-US" altLang="zh-CN" dirty="0"/>
              <a:t>24</a:t>
            </a:r>
            <a:r>
              <a:rPr lang="zh-CN" altLang="en-US" dirty="0"/>
              <a:t>保留长度之后，两者相差无几。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zh-CN" dirty="0"/>
              <a:t>说明普通下采样条件下，24层可能裁剪过短或最终长度特征被压缩过多。</a:t>
            </a:r>
            <a:endParaRPr lang="zh-CN" altLang="en-US" dirty="0"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102C6B2B-5FB2-A63B-0FFD-38383DDAC099}"/>
              </a:ext>
            </a:extLst>
          </p:cNvPr>
          <p:cNvSpPr/>
          <p:nvPr/>
        </p:nvSpPr>
        <p:spPr>
          <a:xfrm>
            <a:off x="2436061" y="831894"/>
            <a:ext cx="2100220" cy="3693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实验结果和分析</a:t>
            </a:r>
          </a:p>
        </p:txBody>
      </p:sp>
    </p:spTree>
    <p:extLst>
      <p:ext uri="{BB962C8B-B14F-4D97-AF65-F5344CB8AC3E}">
        <p14:creationId xmlns:p14="http://schemas.microsoft.com/office/powerpoint/2010/main" val="19080351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线连接符 1"/>
          <p:cNvCxnSpPr/>
          <p:nvPr/>
        </p:nvCxnSpPr>
        <p:spPr>
          <a:xfrm>
            <a:off x="0" y="575187"/>
            <a:ext cx="12192000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250722" y="59099"/>
            <a:ext cx="33080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kumimoji="1"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研究进展</a:t>
            </a:r>
            <a:endParaRPr kumimoji="1" lang="zh-CN" altLang="en-US" sz="2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: 圆角 7"/>
          <p:cNvSpPr/>
          <p:nvPr/>
        </p:nvSpPr>
        <p:spPr>
          <a:xfrm>
            <a:off x="662030" y="831894"/>
            <a:ext cx="2166551" cy="3693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跨板泛化测试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E81575CE-3ADB-5024-CA01-90D764E85687}"/>
              </a:ext>
            </a:extLst>
          </p:cNvPr>
          <p:cNvSpPr/>
          <p:nvPr/>
        </p:nvSpPr>
        <p:spPr>
          <a:xfrm>
            <a:off x="2893207" y="836303"/>
            <a:ext cx="1331077" cy="3693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数据处理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B7721F2-8932-969A-E270-2FA85560A4B7}"/>
              </a:ext>
            </a:extLst>
          </p:cNvPr>
          <p:cNvSpPr txBox="1"/>
          <p:nvPr/>
        </p:nvSpPr>
        <p:spPr>
          <a:xfrm>
            <a:off x="662030" y="1546038"/>
            <a:ext cx="1077511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选取</a:t>
            </a:r>
            <a:r>
              <a:rPr lang="en-US" altLang="zh-CN" dirty="0"/>
              <a:t>325</a:t>
            </a:r>
            <a:r>
              <a:rPr lang="zh-CN" altLang="en-US" dirty="0"/>
              <a:t>中的两块板，</a:t>
            </a:r>
            <a:r>
              <a:rPr lang="en-US" altLang="zh-CN" dirty="0"/>
              <a:t>275</a:t>
            </a:r>
            <a:r>
              <a:rPr lang="zh-CN" altLang="en-US" dirty="0"/>
              <a:t>中的一块板，优先选取缺陷占比多的板子，保证测试稳定性，三块板中也包含不同尺寸，然后每块板随机抽样</a:t>
            </a:r>
            <a:r>
              <a:rPr lang="en-US" altLang="zh-CN" dirty="0"/>
              <a:t>490</a:t>
            </a:r>
            <a:r>
              <a:rPr lang="zh-CN" altLang="en-US" dirty="0"/>
              <a:t>个样本，保持原始正常缺陷比例，不进行调整，然后进行数据标注，之后把钻孔统一方向。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头部数据裁剪保持一致性，原始尺寸裁剪</a:t>
            </a:r>
            <a:r>
              <a:rPr lang="en-US" altLang="zh-CN" dirty="0"/>
              <a:t>37</a:t>
            </a:r>
            <a:r>
              <a:rPr lang="zh-CN" altLang="en-US" dirty="0"/>
              <a:t>*</a:t>
            </a:r>
            <a:r>
              <a:rPr lang="en-US" altLang="zh-CN" dirty="0"/>
              <a:t>37</a:t>
            </a:r>
            <a:r>
              <a:rPr lang="zh-CN" altLang="en-US" dirty="0"/>
              <a:t>*</a:t>
            </a:r>
            <a:r>
              <a:rPr lang="en-US" altLang="zh-CN" dirty="0"/>
              <a:t>37</a:t>
            </a:r>
            <a:r>
              <a:rPr lang="zh-CN" altLang="en-US" dirty="0"/>
              <a:t>，较小尺寸裁剪</a:t>
            </a:r>
            <a:r>
              <a:rPr lang="en-US" altLang="zh-CN" dirty="0"/>
              <a:t>29</a:t>
            </a:r>
            <a:r>
              <a:rPr lang="zh-CN" altLang="en-US" dirty="0"/>
              <a:t>*</a:t>
            </a:r>
            <a:r>
              <a:rPr lang="en-US" altLang="zh-CN" dirty="0"/>
              <a:t>29</a:t>
            </a:r>
            <a:r>
              <a:rPr lang="zh-CN" altLang="en-US" dirty="0"/>
              <a:t>*</a:t>
            </a:r>
            <a:r>
              <a:rPr lang="en-US" altLang="zh-CN" dirty="0"/>
              <a:t>29</a:t>
            </a:r>
            <a:r>
              <a:rPr lang="zh-CN" altLang="en-US" dirty="0"/>
              <a:t>，保持一致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三块板中数据尺寸如图所示：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0E27207-1CBB-5D0D-340C-0D9C49E3D765}"/>
              </a:ext>
            </a:extLst>
          </p:cNvPr>
          <p:cNvSpPr txBox="1"/>
          <p:nvPr/>
        </p:nvSpPr>
        <p:spPr>
          <a:xfrm>
            <a:off x="662030" y="5584169"/>
            <a:ext cx="890468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VT-X750-1077_0000000004_20250719_2527V679844503_20250719022216-must</a:t>
            </a:r>
          </a:p>
          <a:p>
            <a:r>
              <a:rPr lang="zh-CN" altLang="en-US" dirty="0"/>
              <a:t>VT-X750-1022_0000000044_20260106W_2552V612534501_20260106184823</a:t>
            </a:r>
          </a:p>
          <a:p>
            <a:r>
              <a:rPr lang="zh-CN" altLang="en-US" dirty="0"/>
              <a:t>VT-X750-1305_0000000001_20260227_2512V663586501_20260227034814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5F2DB2AA-6CB4-7793-E3FD-6ECCBE4C9C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269" y="3546524"/>
            <a:ext cx="9375735" cy="196429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B76970-82B5-36B6-A740-54720A375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线连接符 1">
            <a:extLst>
              <a:ext uri="{FF2B5EF4-FFF2-40B4-BE49-F238E27FC236}">
                <a16:creationId xmlns:a16="http://schemas.microsoft.com/office/drawing/2014/main" id="{2064FAE6-6CE2-2E86-CE82-E6922E682F0B}"/>
              </a:ext>
            </a:extLst>
          </p:cNvPr>
          <p:cNvCxnSpPr/>
          <p:nvPr/>
        </p:nvCxnSpPr>
        <p:spPr>
          <a:xfrm>
            <a:off x="0" y="575187"/>
            <a:ext cx="12192000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7C459C8D-9A2B-C168-391F-549BBA17B13F}"/>
              </a:ext>
            </a:extLst>
          </p:cNvPr>
          <p:cNvSpPr txBox="1"/>
          <p:nvPr/>
        </p:nvSpPr>
        <p:spPr>
          <a:xfrm>
            <a:off x="250722" y="59099"/>
            <a:ext cx="33080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kumimoji="1"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研究进展</a:t>
            </a:r>
            <a:endParaRPr kumimoji="1" lang="zh-CN" altLang="en-US" sz="2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7BE0950A-ADA8-B104-8FA7-B6C25AE46F40}"/>
              </a:ext>
            </a:extLst>
          </p:cNvPr>
          <p:cNvSpPr/>
          <p:nvPr/>
        </p:nvSpPr>
        <p:spPr>
          <a:xfrm>
            <a:off x="662030" y="831894"/>
            <a:ext cx="2166551" cy="3693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跨板泛化测试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173CED9B-3229-1977-6673-BD8FABB8F0D8}"/>
              </a:ext>
            </a:extLst>
          </p:cNvPr>
          <p:cNvSpPr/>
          <p:nvPr/>
        </p:nvSpPr>
        <p:spPr>
          <a:xfrm>
            <a:off x="2893207" y="831040"/>
            <a:ext cx="1331077" cy="3693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测试结果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9B2F3CC-1FB8-5ACF-5E47-2BC51D9D1971}"/>
              </a:ext>
            </a:extLst>
          </p:cNvPr>
          <p:cNvSpPr txBox="1"/>
          <p:nvPr/>
        </p:nvSpPr>
        <p:spPr>
          <a:xfrm>
            <a:off x="662029" y="1394189"/>
            <a:ext cx="107965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三块板数据可以直接送入网络，只需要更改数据加载器，网络本身兼容不同尺寸。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D3F0CF9-67A2-4983-9C7C-6D1F535536BF}"/>
              </a:ext>
            </a:extLst>
          </p:cNvPr>
          <p:cNvSpPr txBox="1"/>
          <p:nvPr/>
        </p:nvSpPr>
        <p:spPr>
          <a:xfrm>
            <a:off x="180248" y="1864886"/>
            <a:ext cx="61079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/>
              <a:t>ResNet18</a:t>
            </a:r>
            <a:endParaRPr lang="zh-CN" altLang="en-US" dirty="0"/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0C9101C9-E18F-C4BD-3921-177891392E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73549"/>
            <a:ext cx="6312224" cy="3264068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C4FCA7C3-6DF7-1817-3FB3-D06991CFDF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4577" y="2394205"/>
            <a:ext cx="6083613" cy="3143412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B3D5DB07-C57B-FC86-91E7-2BF1CA2E69D9}"/>
              </a:ext>
            </a:extLst>
          </p:cNvPr>
          <p:cNvSpPr txBox="1"/>
          <p:nvPr/>
        </p:nvSpPr>
        <p:spPr>
          <a:xfrm>
            <a:off x="6060302" y="1864886"/>
            <a:ext cx="30646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Resent18</a:t>
            </a:r>
            <a:r>
              <a:rPr lang="zh-CN" altLang="en-US" dirty="0"/>
              <a:t>头部</a:t>
            </a:r>
            <a:r>
              <a:rPr lang="en-US" altLang="zh-CN" dirty="0"/>
              <a:t>37</a:t>
            </a:r>
            <a:r>
              <a:rPr lang="zh-CN" altLang="en-US" dirty="0"/>
              <a:t>模型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7C797A0-3E83-9CF2-B4F6-D47653D23EB5}"/>
              </a:ext>
            </a:extLst>
          </p:cNvPr>
          <p:cNvSpPr txBox="1"/>
          <p:nvPr/>
        </p:nvSpPr>
        <p:spPr>
          <a:xfrm>
            <a:off x="357878" y="5702940"/>
            <a:ext cx="1053703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观察实验结果发现，</a:t>
            </a:r>
            <a:r>
              <a:rPr lang="en-US" altLang="zh-CN" dirty="0"/>
              <a:t>1077</a:t>
            </a:r>
            <a:r>
              <a:rPr lang="zh-CN" altLang="en-US" dirty="0"/>
              <a:t>板出现异常，其他两块板指标也比较差，证明模型泛化性能不足。</a:t>
            </a:r>
            <a:endParaRPr lang="en-US" altLang="zh-CN" dirty="0"/>
          </a:p>
          <a:p>
            <a:r>
              <a:rPr lang="zh-CN" altLang="en-US" dirty="0"/>
              <a:t>但是头部模型仍然有一定效果。</a:t>
            </a:r>
            <a:endParaRPr lang="en-US" altLang="zh-CN" dirty="0"/>
          </a:p>
          <a:p>
            <a:r>
              <a:rPr lang="zh-CN" altLang="en-US" dirty="0"/>
              <a:t>经过分析，三块板与原始版灰度有差异，于是更改归一化方式重新训练模型。</a:t>
            </a:r>
          </a:p>
        </p:txBody>
      </p:sp>
    </p:spTree>
    <p:extLst>
      <p:ext uri="{BB962C8B-B14F-4D97-AF65-F5344CB8AC3E}">
        <p14:creationId xmlns:p14="http://schemas.microsoft.com/office/powerpoint/2010/main" val="22698942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线连接符 1"/>
          <p:cNvCxnSpPr/>
          <p:nvPr/>
        </p:nvCxnSpPr>
        <p:spPr>
          <a:xfrm>
            <a:off x="0" y="575187"/>
            <a:ext cx="12192000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250722" y="59099"/>
            <a:ext cx="33080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kumimoji="1"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研究进展</a:t>
            </a:r>
            <a:endParaRPr kumimoji="1" lang="zh-CN" altLang="en-US" sz="2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: 圆角 7"/>
          <p:cNvSpPr/>
          <p:nvPr/>
        </p:nvSpPr>
        <p:spPr>
          <a:xfrm>
            <a:off x="183399" y="831894"/>
            <a:ext cx="2166551" cy="3693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新归一化实验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642A81F-72D5-BB43-0366-30885EE4CE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159" y="1905238"/>
            <a:ext cx="5683542" cy="2165461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523AAA76-FDF3-EB0B-2C46-0CED75D1C382}"/>
              </a:ext>
            </a:extLst>
          </p:cNvPr>
          <p:cNvSpPr txBox="1"/>
          <p:nvPr/>
        </p:nvSpPr>
        <p:spPr>
          <a:xfrm>
            <a:off x="450056" y="1535906"/>
            <a:ext cx="7750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灰度分析如下，发现有差异，而且</a:t>
            </a:r>
            <a:r>
              <a:rPr lang="en-US" altLang="zh-CN" dirty="0"/>
              <a:t>1077</a:t>
            </a:r>
            <a:r>
              <a:rPr lang="zh-CN" altLang="en-US" dirty="0"/>
              <a:t>差异最大，可能是指标异常原因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3F85A6D-464A-6031-177C-DF0CE1A92F3C}"/>
              </a:ext>
            </a:extLst>
          </p:cNvPr>
          <p:cNvSpPr txBox="1"/>
          <p:nvPr/>
        </p:nvSpPr>
        <p:spPr>
          <a:xfrm>
            <a:off x="375047" y="4196005"/>
            <a:ext cx="960477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/>
              <a:t>旧归一化采用每折训练集固定的全局Min-Max参数，并将其直接应用于验证集、测试集和外部数据。当不同板材的灰度分布发生偏移时，部分体素容易被压缩或截断，1077板因整体灰度明显偏低而出现预测异常。为此，本阶段改用逐样本P1/P99鲁棒归一化：对每个钻孔独立计算第1和第99百分位，将该范围线性映射至</a:t>
            </a:r>
            <a:r>
              <a:rPr lang="zh-CN" altLang="zh-CN" dirty="0">
                <a:latin typeface="Courier New" panose="02070309020205020404" pitchFamily="49" charset="0"/>
              </a:rPr>
              <a:t>[0,1]</a:t>
            </a:r>
            <a:r>
              <a:rPr lang="zh-CN" altLang="zh-CN" dirty="0"/>
              <a:t>，同时抑制异常极值；Head37模型在裁剪后的头部ROI内计算。实验保持五折划分、网络结构、数据增强和训练参数不变，仅更换归一化方式并重新训练。</a:t>
            </a:r>
            <a:endParaRPr lang="zh-CN" altLang="en-US" dirty="0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D6F7D007-89FD-2D76-6742-FFB39699C102}"/>
              </a:ext>
            </a:extLst>
          </p:cNvPr>
          <p:cNvSpPr/>
          <p:nvPr/>
        </p:nvSpPr>
        <p:spPr>
          <a:xfrm>
            <a:off x="2498391" y="828541"/>
            <a:ext cx="1331077" cy="3693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实验说明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51213-B147-704D-1C34-A2DB91725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线连接符 1">
            <a:extLst>
              <a:ext uri="{FF2B5EF4-FFF2-40B4-BE49-F238E27FC236}">
                <a16:creationId xmlns:a16="http://schemas.microsoft.com/office/drawing/2014/main" id="{04ABFA65-CB41-C881-7B11-A4C1F24AA6EB}"/>
              </a:ext>
            </a:extLst>
          </p:cNvPr>
          <p:cNvCxnSpPr/>
          <p:nvPr/>
        </p:nvCxnSpPr>
        <p:spPr>
          <a:xfrm>
            <a:off x="0" y="575187"/>
            <a:ext cx="12192000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ABA82FB3-5366-5110-79B3-CBCA5E204C1E}"/>
              </a:ext>
            </a:extLst>
          </p:cNvPr>
          <p:cNvSpPr txBox="1"/>
          <p:nvPr/>
        </p:nvSpPr>
        <p:spPr>
          <a:xfrm>
            <a:off x="250722" y="59099"/>
            <a:ext cx="33080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kumimoji="1"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研究进展</a:t>
            </a:r>
            <a:endParaRPr kumimoji="1" lang="zh-CN" altLang="en-US" sz="2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1DA0C269-FB1A-A197-D117-6E1F928FA162}"/>
              </a:ext>
            </a:extLst>
          </p:cNvPr>
          <p:cNvSpPr/>
          <p:nvPr/>
        </p:nvSpPr>
        <p:spPr>
          <a:xfrm>
            <a:off x="183399" y="831894"/>
            <a:ext cx="2166551" cy="3693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新归一化实验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2B93AD83-9618-48F1-0F79-0DE3D60AC0C7}"/>
              </a:ext>
            </a:extLst>
          </p:cNvPr>
          <p:cNvSpPr/>
          <p:nvPr/>
        </p:nvSpPr>
        <p:spPr>
          <a:xfrm>
            <a:off x="2498391" y="828541"/>
            <a:ext cx="2016459" cy="3693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实验结果和分析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FD47999-6C19-6F83-FAE1-F67C1DBA3E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722" y="1454579"/>
            <a:ext cx="7131224" cy="3427826"/>
          </a:xfrm>
          <a:prstGeom prst="rect">
            <a:avLst/>
          </a:prstGeom>
        </p:spPr>
      </p:pic>
      <p:sp>
        <p:nvSpPr>
          <p:cNvPr id="10" name="矩形: 圆角 9">
            <a:extLst>
              <a:ext uri="{FF2B5EF4-FFF2-40B4-BE49-F238E27FC236}">
                <a16:creationId xmlns:a16="http://schemas.microsoft.com/office/drawing/2014/main" id="{5A7447F0-45A4-7366-ECEE-6714B6D258FC}"/>
              </a:ext>
            </a:extLst>
          </p:cNvPr>
          <p:cNvSpPr/>
          <p:nvPr/>
        </p:nvSpPr>
        <p:spPr>
          <a:xfrm>
            <a:off x="4663291" y="828541"/>
            <a:ext cx="2016459" cy="3693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初始版测试结果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EBF84B9-3BF1-69EB-CCFA-F839A0E77A72}"/>
              </a:ext>
            </a:extLst>
          </p:cNvPr>
          <p:cNvSpPr txBox="1"/>
          <p:nvPr/>
        </p:nvSpPr>
        <p:spPr>
          <a:xfrm>
            <a:off x="276535" y="4964345"/>
            <a:ext cx="1163893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/>
              <a:t>在旧归一化下，Head37相较ResNet18的Recall由</a:t>
            </a:r>
            <a:r>
              <a:rPr lang="zh-CN" altLang="zh-CN" dirty="0">
                <a:latin typeface="Courier New" panose="02070309020205020404" pitchFamily="49" charset="0"/>
              </a:rPr>
              <a:t>88.08%</a:t>
            </a:r>
            <a:r>
              <a:rPr lang="zh-CN" altLang="zh-CN" dirty="0"/>
              <a:t>提高至</a:t>
            </a:r>
            <a:r>
              <a:rPr lang="zh-CN" altLang="zh-CN" dirty="0">
                <a:latin typeface="Courier New" panose="02070309020205020404" pitchFamily="49" charset="0"/>
              </a:rPr>
              <a:t>92.72%</a:t>
            </a:r>
            <a:r>
              <a:rPr lang="zh-CN" altLang="zh-CN" dirty="0"/>
              <a:t>，F1由</a:t>
            </a:r>
            <a:r>
              <a:rPr lang="zh-CN" altLang="zh-CN" dirty="0">
                <a:latin typeface="Courier New" panose="02070309020205020404" pitchFamily="49" charset="0"/>
              </a:rPr>
              <a:t>91.28%</a:t>
            </a:r>
            <a:r>
              <a:rPr lang="zh-CN" altLang="zh-CN" dirty="0"/>
              <a:t>提高至</a:t>
            </a:r>
            <a:r>
              <a:rPr lang="zh-CN" altLang="zh-CN" dirty="0">
                <a:latin typeface="Courier New" panose="02070309020205020404" pitchFamily="49" charset="0"/>
              </a:rPr>
              <a:t>93.81%</a:t>
            </a:r>
            <a:r>
              <a:rPr lang="zh-CN" altLang="zh-CN" dirty="0"/>
              <a:t>，AUC和AP分别提高</a:t>
            </a:r>
            <a:r>
              <a:rPr lang="zh-CN" altLang="zh-CN" dirty="0">
                <a:latin typeface="Courier New" panose="02070309020205020404" pitchFamily="49" charset="0"/>
              </a:rPr>
              <a:t>1.09</a:t>
            </a:r>
            <a:r>
              <a:rPr lang="zh-CN" altLang="zh-CN" dirty="0"/>
              <a:t>和</a:t>
            </a:r>
            <a:r>
              <a:rPr lang="zh-CN" altLang="zh-CN" dirty="0">
                <a:latin typeface="Courier New" panose="02070309020205020404" pitchFamily="49" charset="0"/>
              </a:rPr>
              <a:t>1.76</a:t>
            </a:r>
            <a:r>
              <a:rPr lang="zh-CN" altLang="zh-CN" dirty="0"/>
              <a:t>个百分点；在新归一化下，Head37仍将Recall和F1分别提高</a:t>
            </a:r>
            <a:r>
              <a:rPr lang="zh-CN" altLang="zh-CN" dirty="0">
                <a:latin typeface="Courier New" panose="02070309020205020404" pitchFamily="49" charset="0"/>
              </a:rPr>
              <a:t>2.32</a:t>
            </a:r>
            <a:r>
              <a:rPr lang="zh-CN" altLang="zh-CN" dirty="0"/>
              <a:t>和</a:t>
            </a:r>
            <a:r>
              <a:rPr lang="zh-CN" altLang="zh-CN" dirty="0">
                <a:latin typeface="Courier New" panose="02070309020205020404" pitchFamily="49" charset="0"/>
              </a:rPr>
              <a:t>1.70</a:t>
            </a:r>
            <a:r>
              <a:rPr lang="zh-CN" altLang="zh-CN" dirty="0"/>
              <a:t>个百分点，说明头部区域建模在两种归一化方式下均有效。对ResNet18而言，新旧归一化的F1仅相差</a:t>
            </a:r>
            <a:r>
              <a:rPr lang="zh-CN" altLang="zh-CN" dirty="0">
                <a:latin typeface="Courier New" panose="02070309020205020404" pitchFamily="49" charset="0"/>
              </a:rPr>
              <a:t>0.05</a:t>
            </a:r>
            <a:r>
              <a:rPr lang="zh-CN" altLang="zh-CN" dirty="0"/>
              <a:t>个百分点，整体性能基本一致；对Head37而言，新归一化的F1下降</a:t>
            </a:r>
            <a:r>
              <a:rPr lang="zh-CN" altLang="zh-CN" dirty="0">
                <a:latin typeface="Courier New" panose="02070309020205020404" pitchFamily="49" charset="0"/>
              </a:rPr>
              <a:t>0.88</a:t>
            </a:r>
            <a:r>
              <a:rPr lang="zh-CN" altLang="zh-CN" dirty="0"/>
              <a:t>个百分点，主要来自Recall降低。其原因是初始板训练集与测试集灰度分布一致，旧归一化不存在明显域偏移，并能保留部分绝对灰度信息，而逐样本P1/P99可能削弱这部分信息。因此，新归一化的主要价值并非提高同板测试指标，而是增强模型对外部板灰度变化的适应能力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347253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BC05C7-BB47-BCBA-731D-3CC5C4DAA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线连接符 1">
            <a:extLst>
              <a:ext uri="{FF2B5EF4-FFF2-40B4-BE49-F238E27FC236}">
                <a16:creationId xmlns:a16="http://schemas.microsoft.com/office/drawing/2014/main" id="{5A9552D4-50C8-180C-16BC-F2DE22B3DCAB}"/>
              </a:ext>
            </a:extLst>
          </p:cNvPr>
          <p:cNvCxnSpPr/>
          <p:nvPr/>
        </p:nvCxnSpPr>
        <p:spPr>
          <a:xfrm>
            <a:off x="0" y="575187"/>
            <a:ext cx="12192000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CEF8EC55-52CA-FB39-9FC8-EF85B0F72340}"/>
              </a:ext>
            </a:extLst>
          </p:cNvPr>
          <p:cNvSpPr txBox="1"/>
          <p:nvPr/>
        </p:nvSpPr>
        <p:spPr>
          <a:xfrm>
            <a:off x="250722" y="59099"/>
            <a:ext cx="33080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kumimoji="1"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研究进展</a:t>
            </a:r>
            <a:endParaRPr kumimoji="1" lang="zh-CN" altLang="en-US" sz="2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FD22D7B1-D63D-4EC1-393F-CB0F1518B643}"/>
              </a:ext>
            </a:extLst>
          </p:cNvPr>
          <p:cNvSpPr/>
          <p:nvPr/>
        </p:nvSpPr>
        <p:spPr>
          <a:xfrm>
            <a:off x="183399" y="831894"/>
            <a:ext cx="2166551" cy="3693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新归一化实验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1AADA845-4982-316D-DD77-66436EFCF946}"/>
              </a:ext>
            </a:extLst>
          </p:cNvPr>
          <p:cNvSpPr/>
          <p:nvPr/>
        </p:nvSpPr>
        <p:spPr>
          <a:xfrm>
            <a:off x="2498391" y="828541"/>
            <a:ext cx="2016459" cy="3693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实验结果和分析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4D61E546-60FA-3EE8-6D1A-D8995892BE6E}"/>
              </a:ext>
            </a:extLst>
          </p:cNvPr>
          <p:cNvSpPr/>
          <p:nvPr/>
        </p:nvSpPr>
        <p:spPr>
          <a:xfrm>
            <a:off x="4663291" y="828541"/>
            <a:ext cx="2016459" cy="3693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外部板测试结果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8DDDB55-D837-422D-A1FC-94CE9D829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295" y="1647733"/>
            <a:ext cx="5855001" cy="351808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39C7713-F02B-18A7-1A58-7EFF928169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706" y="1692185"/>
            <a:ext cx="5893103" cy="3473629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C2AB52B2-FA60-A0ED-FCEE-EB9FF708D0C7}"/>
              </a:ext>
            </a:extLst>
          </p:cNvPr>
          <p:cNvSpPr txBox="1"/>
          <p:nvPr/>
        </p:nvSpPr>
        <p:spPr>
          <a:xfrm>
            <a:off x="250722" y="5499526"/>
            <a:ext cx="897900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/>
              <a:t>新归一化主要解决了灰度偏移问题，尤其对1077效果显著；Head37在三块外部板上均优于完整ResNet18，证明头部ROI具有跨板有效性。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在此基础上继续进行统一尺寸实验。</a:t>
            </a:r>
          </a:p>
        </p:txBody>
      </p:sp>
    </p:spTree>
    <p:extLst>
      <p:ext uri="{BB962C8B-B14F-4D97-AF65-F5344CB8AC3E}">
        <p14:creationId xmlns:p14="http://schemas.microsoft.com/office/powerpoint/2010/main" val="23017676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ED6597-38F9-84DC-376F-0789179FA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线连接符 1">
            <a:extLst>
              <a:ext uri="{FF2B5EF4-FFF2-40B4-BE49-F238E27FC236}">
                <a16:creationId xmlns:a16="http://schemas.microsoft.com/office/drawing/2014/main" id="{6143AB4F-DDCE-FB76-6602-0600DF3CEF52}"/>
              </a:ext>
            </a:extLst>
          </p:cNvPr>
          <p:cNvCxnSpPr/>
          <p:nvPr/>
        </p:nvCxnSpPr>
        <p:spPr>
          <a:xfrm>
            <a:off x="0" y="575187"/>
            <a:ext cx="12192000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73319E3D-A744-5255-A33C-81C65C177C3A}"/>
              </a:ext>
            </a:extLst>
          </p:cNvPr>
          <p:cNvSpPr txBox="1"/>
          <p:nvPr/>
        </p:nvSpPr>
        <p:spPr>
          <a:xfrm>
            <a:off x="250722" y="59099"/>
            <a:ext cx="33080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kumimoji="1"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研究进展</a:t>
            </a:r>
            <a:endParaRPr kumimoji="1" lang="zh-CN" altLang="en-US" sz="2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C51EA3E6-9EC2-6E0D-B3E4-230E1D87A32D}"/>
              </a:ext>
            </a:extLst>
          </p:cNvPr>
          <p:cNvSpPr/>
          <p:nvPr/>
        </p:nvSpPr>
        <p:spPr>
          <a:xfrm>
            <a:off x="183399" y="831894"/>
            <a:ext cx="2166551" cy="3693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统一尺寸实验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4C0C1C4-5375-CAEB-CF7D-AC0228C8510A}"/>
              </a:ext>
            </a:extLst>
          </p:cNvPr>
          <p:cNvSpPr/>
          <p:nvPr/>
        </p:nvSpPr>
        <p:spPr>
          <a:xfrm>
            <a:off x="2498391" y="828541"/>
            <a:ext cx="1331077" cy="3693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实验说明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119E87D-92EB-1FD7-676E-84622919DD8E}"/>
              </a:ext>
            </a:extLst>
          </p:cNvPr>
          <p:cNvSpPr txBox="1"/>
          <p:nvPr/>
        </p:nvSpPr>
        <p:spPr>
          <a:xfrm>
            <a:off x="250722" y="1563678"/>
            <a:ext cx="1112927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/>
              <a:t>为验证体素间距和输入尺寸差异对外部泛化性能的影响，本阶段在新归一化模型基础上开展统一尺寸实验。初始训练板采用20 μm体素间距，对应</a:t>
            </a:r>
            <a:r>
              <a:rPr lang="zh-CN" altLang="zh-CN" dirty="0">
                <a:latin typeface="Courier New" panose="02070309020205020404" pitchFamily="49" charset="0"/>
              </a:rPr>
              <a:t>37×37×296</a:t>
            </a:r>
            <a:r>
              <a:rPr lang="zh-CN" altLang="zh-CN" dirty="0"/>
              <a:t>；1022板中部分样本采用25 μm体素间距，对应</a:t>
            </a:r>
            <a:r>
              <a:rPr lang="zh-CN" altLang="zh-CN" dirty="0">
                <a:latin typeface="Courier New" panose="02070309020205020404" pitchFamily="49" charset="0"/>
              </a:rPr>
              <a:t>29×29×237</a:t>
            </a:r>
            <a:r>
              <a:rPr lang="zh-CN" altLang="zh-CN" dirty="0"/>
              <a:t>。实验使用三线性插值将这部分完整钻孔重采样为20 μm对应尺寸，再截取Head37区域，其他样本、标签、模型权重和测试参数均保持不变。</a:t>
            </a: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3FB6D83-D04C-768C-861A-E9302CAC1D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722" y="3671831"/>
            <a:ext cx="5683542" cy="2559182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CED009E3-3400-9053-58FB-F79CDD23335F}"/>
              </a:ext>
            </a:extLst>
          </p:cNvPr>
          <p:cNvSpPr txBox="1"/>
          <p:nvPr/>
        </p:nvSpPr>
        <p:spPr>
          <a:xfrm>
            <a:off x="195700" y="3126459"/>
            <a:ext cx="59364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下图为</a:t>
            </a:r>
            <a:r>
              <a:rPr lang="en-US" altLang="zh-CN" dirty="0"/>
              <a:t>325</a:t>
            </a:r>
            <a:r>
              <a:rPr lang="zh-CN" altLang="en-US" dirty="0"/>
              <a:t>和</a:t>
            </a:r>
            <a:r>
              <a:rPr lang="en-US" altLang="zh-CN" dirty="0"/>
              <a:t>275</a:t>
            </a:r>
            <a:r>
              <a:rPr lang="zh-CN" altLang="en-US" dirty="0"/>
              <a:t>中的所有钻孔尺寸及其对应体素范围</a:t>
            </a:r>
          </a:p>
        </p:txBody>
      </p:sp>
    </p:spTree>
    <p:extLst>
      <p:ext uri="{BB962C8B-B14F-4D97-AF65-F5344CB8AC3E}">
        <p14:creationId xmlns:p14="http://schemas.microsoft.com/office/powerpoint/2010/main" val="25714575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D85647-4963-5634-3575-6494B18E4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线连接符 1">
            <a:extLst>
              <a:ext uri="{FF2B5EF4-FFF2-40B4-BE49-F238E27FC236}">
                <a16:creationId xmlns:a16="http://schemas.microsoft.com/office/drawing/2014/main" id="{BCD99ADE-5660-727E-A61A-63ACF26153AE}"/>
              </a:ext>
            </a:extLst>
          </p:cNvPr>
          <p:cNvCxnSpPr/>
          <p:nvPr/>
        </p:nvCxnSpPr>
        <p:spPr>
          <a:xfrm>
            <a:off x="0" y="575187"/>
            <a:ext cx="12192000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7F99F866-D775-6C2A-D9B6-317C5EE618BC}"/>
              </a:ext>
            </a:extLst>
          </p:cNvPr>
          <p:cNvSpPr txBox="1"/>
          <p:nvPr/>
        </p:nvSpPr>
        <p:spPr>
          <a:xfrm>
            <a:off x="250722" y="59099"/>
            <a:ext cx="33080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kumimoji="1"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研究进展</a:t>
            </a:r>
            <a:endParaRPr kumimoji="1" lang="zh-CN" altLang="en-US" sz="2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0F0A9143-95B4-B92F-F64A-70F27320CF55}"/>
              </a:ext>
            </a:extLst>
          </p:cNvPr>
          <p:cNvSpPr/>
          <p:nvPr/>
        </p:nvSpPr>
        <p:spPr>
          <a:xfrm>
            <a:off x="183399" y="831894"/>
            <a:ext cx="2166551" cy="3693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统一尺寸实验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ECFD5319-B8E1-EB49-3B60-BBC35C844E77}"/>
              </a:ext>
            </a:extLst>
          </p:cNvPr>
          <p:cNvSpPr/>
          <p:nvPr/>
        </p:nvSpPr>
        <p:spPr>
          <a:xfrm>
            <a:off x="2498391" y="828541"/>
            <a:ext cx="2445083" cy="3693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外部测试结果和分析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327C570-B06D-2EAD-6695-94F68E5E9D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72" y="1656887"/>
            <a:ext cx="7355222" cy="3833105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8C75F6B4-34FC-FFFF-282A-5AF61C0EC62E}"/>
              </a:ext>
            </a:extLst>
          </p:cNvPr>
          <p:cNvSpPr txBox="1"/>
          <p:nvPr/>
        </p:nvSpPr>
        <p:spPr>
          <a:xfrm>
            <a:off x="250722" y="1368008"/>
            <a:ext cx="61079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/>
              <a:t>1022统一尺寸与未统一尺寸对比（best_loss）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11A6712-94D3-A41B-BFC0-466B1D22006A}"/>
              </a:ext>
            </a:extLst>
          </p:cNvPr>
          <p:cNvSpPr txBox="1"/>
          <p:nvPr/>
        </p:nvSpPr>
        <p:spPr>
          <a:xfrm>
            <a:off x="250722" y="5489992"/>
            <a:ext cx="840382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/>
              <a:t>统一尺寸对两个模型效果不同：ResNet18的F1、AUC和AP均有所下降，说明插值可能损失了完整体积中的细节；Head37的F1提高</a:t>
            </a:r>
            <a:r>
              <a:rPr lang="zh-CN" altLang="zh-CN" dirty="0">
                <a:latin typeface="Courier New" panose="02070309020205020404" pitchFamily="49" charset="0"/>
              </a:rPr>
              <a:t>3.37%</a:t>
            </a:r>
            <a:r>
              <a:rPr lang="zh-CN" altLang="zh-CN" dirty="0"/>
              <a:t>，AUC提高</a:t>
            </a:r>
            <a:r>
              <a:rPr lang="zh-CN" altLang="zh-CN" dirty="0">
                <a:latin typeface="Courier New" panose="02070309020205020404" pitchFamily="49" charset="0"/>
              </a:rPr>
              <a:t>2.36%</a:t>
            </a:r>
            <a:r>
              <a:rPr lang="zh-CN" altLang="zh-CN" dirty="0"/>
              <a:t>，AP提高</a:t>
            </a:r>
            <a:r>
              <a:rPr lang="zh-CN" altLang="zh-CN" dirty="0">
                <a:latin typeface="Courier New" panose="02070309020205020404" pitchFamily="49" charset="0"/>
              </a:rPr>
              <a:t>2.26%</a:t>
            </a:r>
            <a:r>
              <a:rPr lang="zh-CN" altLang="zh-CN" dirty="0"/>
              <a:t>，说明尺寸一致有利于头部局部特征匹配。因此，</a:t>
            </a:r>
            <a:r>
              <a:rPr lang="zh-CN" altLang="zh-CN" b="1" dirty="0"/>
              <a:t>统一尺寸只对Head37有一定效果，对完整ResNet18无效。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941091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186BD1-D4AF-225C-71C9-9A963B111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线连接符 1">
            <a:extLst>
              <a:ext uri="{FF2B5EF4-FFF2-40B4-BE49-F238E27FC236}">
                <a16:creationId xmlns:a16="http://schemas.microsoft.com/office/drawing/2014/main" id="{ADCB160B-834A-5ACA-5A3F-080BEBA07854}"/>
              </a:ext>
            </a:extLst>
          </p:cNvPr>
          <p:cNvCxnSpPr/>
          <p:nvPr/>
        </p:nvCxnSpPr>
        <p:spPr>
          <a:xfrm>
            <a:off x="0" y="575187"/>
            <a:ext cx="12192000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179E0FCB-D817-6EA1-8682-B456FFFF0FB2}"/>
              </a:ext>
            </a:extLst>
          </p:cNvPr>
          <p:cNvSpPr txBox="1"/>
          <p:nvPr/>
        </p:nvSpPr>
        <p:spPr>
          <a:xfrm>
            <a:off x="250722" y="59099"/>
            <a:ext cx="33080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kumimoji="1"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研究进展</a:t>
            </a:r>
            <a:endParaRPr kumimoji="1" lang="zh-CN" altLang="en-US" sz="2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37FBAA4D-F9CE-0784-8B1F-A2A73BE373D3}"/>
              </a:ext>
            </a:extLst>
          </p:cNvPr>
          <p:cNvSpPr/>
          <p:nvPr/>
        </p:nvSpPr>
        <p:spPr>
          <a:xfrm>
            <a:off x="183399" y="831894"/>
            <a:ext cx="2166551" cy="3693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统一尺寸实验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B9DEC203-A088-6117-7A4F-821BB6F84522}"/>
              </a:ext>
            </a:extLst>
          </p:cNvPr>
          <p:cNvSpPr/>
          <p:nvPr/>
        </p:nvSpPr>
        <p:spPr>
          <a:xfrm>
            <a:off x="2498391" y="828541"/>
            <a:ext cx="2445083" cy="3693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外部测试结果和分析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4286C6E-92EA-0057-B3F3-3D63CB9569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1659"/>
            <a:ext cx="7403264" cy="458680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6E50E68-1344-2992-71DF-B4C90D2B48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2786" y="3214553"/>
            <a:ext cx="5397777" cy="1612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5254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6EE35-8CFC-8160-7915-9A3CA8C6C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线连接符 1">
            <a:extLst>
              <a:ext uri="{FF2B5EF4-FFF2-40B4-BE49-F238E27FC236}">
                <a16:creationId xmlns:a16="http://schemas.microsoft.com/office/drawing/2014/main" id="{84CDC0CC-D18F-872D-F028-8EA0310D6C67}"/>
              </a:ext>
            </a:extLst>
          </p:cNvPr>
          <p:cNvCxnSpPr/>
          <p:nvPr/>
        </p:nvCxnSpPr>
        <p:spPr>
          <a:xfrm>
            <a:off x="0" y="575187"/>
            <a:ext cx="12192000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387273DD-0C2E-CDAD-96C4-707085EF7FEC}"/>
              </a:ext>
            </a:extLst>
          </p:cNvPr>
          <p:cNvSpPr txBox="1"/>
          <p:nvPr/>
        </p:nvSpPr>
        <p:spPr>
          <a:xfrm>
            <a:off x="250722" y="59099"/>
            <a:ext cx="33080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kumimoji="1"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研究进展</a:t>
            </a:r>
            <a:endParaRPr kumimoji="1" lang="zh-CN" altLang="en-US" sz="2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D7659A35-0945-249D-DE21-E6C2521B2AC7}"/>
              </a:ext>
            </a:extLst>
          </p:cNvPr>
          <p:cNvSpPr/>
          <p:nvPr/>
        </p:nvSpPr>
        <p:spPr>
          <a:xfrm>
            <a:off x="183399" y="831894"/>
            <a:ext cx="2166551" cy="3693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统一尺寸实验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36144CB0-67F0-E122-34F3-95751EE06DC9}"/>
              </a:ext>
            </a:extLst>
          </p:cNvPr>
          <p:cNvSpPr/>
          <p:nvPr/>
        </p:nvSpPr>
        <p:spPr>
          <a:xfrm>
            <a:off x="2498391" y="828541"/>
            <a:ext cx="2445083" cy="3693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外部测试结果和分析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A2E8EFF-C374-1ACD-158F-0552A00CEA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897" y="1457932"/>
            <a:ext cx="7794853" cy="4323648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6CC08C8A-4F37-D8CF-FB00-19376FAE5936}"/>
              </a:ext>
            </a:extLst>
          </p:cNvPr>
          <p:cNvSpPr txBox="1"/>
          <p:nvPr/>
        </p:nvSpPr>
        <p:spPr>
          <a:xfrm>
            <a:off x="8559402" y="1874789"/>
            <a:ext cx="2656285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/>
              <a:t>不同尺寸组使用25 μm分辨率，微小缺陷占用的体素更少，与模型训练使用的20 μm数据不匹配，因此性能明显较低。插值只能统一尺寸，不能恢复已经缺失的细节，还会平滑纹理，所以ResNet18效果下降；Head37因局部缺陷尺度更接近训练数据而略有提升，但仍明显低于原生同尺寸组。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901854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94BAD6-D7A2-18D0-0B52-F9BE1FFE2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线连接符 1">
            <a:extLst>
              <a:ext uri="{FF2B5EF4-FFF2-40B4-BE49-F238E27FC236}">
                <a16:creationId xmlns:a16="http://schemas.microsoft.com/office/drawing/2014/main" id="{B0101F16-1200-732E-8887-A59B54C90887}"/>
              </a:ext>
            </a:extLst>
          </p:cNvPr>
          <p:cNvCxnSpPr/>
          <p:nvPr/>
        </p:nvCxnSpPr>
        <p:spPr>
          <a:xfrm>
            <a:off x="0" y="575187"/>
            <a:ext cx="12192000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7B5FF00F-9B21-38D7-9DFD-226A63948305}"/>
              </a:ext>
            </a:extLst>
          </p:cNvPr>
          <p:cNvSpPr txBox="1"/>
          <p:nvPr/>
        </p:nvSpPr>
        <p:spPr>
          <a:xfrm>
            <a:off x="250722" y="59099"/>
            <a:ext cx="33080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kumimoji="1"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研究进展</a:t>
            </a:r>
            <a:endParaRPr kumimoji="1" lang="zh-CN" altLang="en-US" sz="2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D758E5D1-5B0C-B743-B24C-A63873ED5258}"/>
              </a:ext>
            </a:extLst>
          </p:cNvPr>
          <p:cNvSpPr/>
          <p:nvPr/>
        </p:nvSpPr>
        <p:spPr>
          <a:xfrm>
            <a:off x="662030" y="831894"/>
            <a:ext cx="2166551" cy="3693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存在的问题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6BCA9FE-325D-E5EF-A5E6-0F830862417D}"/>
              </a:ext>
            </a:extLst>
          </p:cNvPr>
          <p:cNvSpPr txBox="1"/>
          <p:nvPr/>
        </p:nvSpPr>
        <p:spPr>
          <a:xfrm>
            <a:off x="633111" y="1493045"/>
            <a:ext cx="67437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外部板灰度，尺寸还有其他因素与初始板有差异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外部测试集部分标签可能标注错误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头部区域提取算法不准确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6C6F204-8061-2628-448E-39B20AA572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030" y="3307556"/>
            <a:ext cx="6086476" cy="1521619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336814CE-55D5-D3EA-0064-616C198EEC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030" y="4829175"/>
            <a:ext cx="6086476" cy="1521619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A51AA436-B482-3A8A-EF1A-BE018302D78C}"/>
              </a:ext>
            </a:extLst>
          </p:cNvPr>
          <p:cNvSpPr txBox="1"/>
          <p:nvPr/>
        </p:nvSpPr>
        <p:spPr>
          <a:xfrm>
            <a:off x="7258050" y="4459843"/>
            <a:ext cx="27074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能否提前知道钻孔长度？</a:t>
            </a:r>
          </a:p>
        </p:txBody>
      </p:sp>
    </p:spTree>
    <p:extLst>
      <p:ext uri="{BB962C8B-B14F-4D97-AF65-F5344CB8AC3E}">
        <p14:creationId xmlns:p14="http://schemas.microsoft.com/office/powerpoint/2010/main" val="7289174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线连接符 1"/>
          <p:cNvCxnSpPr/>
          <p:nvPr/>
        </p:nvCxnSpPr>
        <p:spPr>
          <a:xfrm>
            <a:off x="0" y="575187"/>
            <a:ext cx="12192000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文本框 57"/>
          <p:cNvSpPr txBox="1"/>
          <p:nvPr/>
        </p:nvSpPr>
        <p:spPr>
          <a:xfrm>
            <a:off x="250722" y="59099"/>
            <a:ext cx="25181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 </a:t>
            </a:r>
            <a:r>
              <a:rPr kumimoji="1"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下一步工作计划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07A61F1-C484-02B9-BDA4-BDB4300D1651}"/>
              </a:ext>
            </a:extLst>
          </p:cNvPr>
          <p:cNvSpPr txBox="1"/>
          <p:nvPr/>
        </p:nvSpPr>
        <p:spPr>
          <a:xfrm>
            <a:off x="435769" y="1028699"/>
            <a:ext cx="584358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重新检查标签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改进头部定位算法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多板训练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54545"/>
      </a:dk2>
      <a:lt2>
        <a:srgbClr val="E0E0E0"/>
      </a:lt2>
      <a:accent1>
        <a:srgbClr val="97221E"/>
      </a:accent1>
      <a:accent2>
        <a:srgbClr val="99A1A4"/>
      </a:accent2>
      <a:accent3>
        <a:srgbClr val="97221F"/>
      </a:accent3>
      <a:accent4>
        <a:srgbClr val="98A2A4"/>
      </a:accent4>
      <a:accent5>
        <a:srgbClr val="97221F"/>
      </a:accent5>
      <a:accent6>
        <a:srgbClr val="98A2A4"/>
      </a:accent6>
      <a:hlink>
        <a:srgbClr val="EDEEEC"/>
      </a:hlink>
      <a:folHlink>
        <a:srgbClr val="EDEEEC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532</TotalTime>
  <Words>2748</Words>
  <Application>Microsoft Office PowerPoint</Application>
  <PresentationFormat>宽屏</PresentationFormat>
  <Paragraphs>131</Paragraphs>
  <Slides>16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5" baseType="lpstr">
      <vt:lpstr>Toppan Bunkyu Midashi Mincho Ex</vt:lpstr>
      <vt:lpstr>Toppan Bunkyu Midashi Mincho Extrabold</vt:lpstr>
      <vt:lpstr>等线</vt:lpstr>
      <vt:lpstr>等线 Light</vt:lpstr>
      <vt:lpstr>楷体</vt:lpstr>
      <vt:lpstr>微软雅黑</vt:lpstr>
      <vt:lpstr>Arial</vt:lpstr>
      <vt:lpstr>Courier New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v010292</dc:creator>
  <cp:lastModifiedBy>小嘉 李</cp:lastModifiedBy>
  <cp:revision>99</cp:revision>
  <dcterms:created xsi:type="dcterms:W3CDTF">2023-04-26T03:15:00Z</dcterms:created>
  <dcterms:modified xsi:type="dcterms:W3CDTF">2026-07-26T01:36:42Z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BD8A16AC6C0F44EEAD811A4B8E62E46C_13</vt:lpwstr>
  </property>
</Properties>
</file>