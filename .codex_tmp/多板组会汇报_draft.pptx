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多板钻孔三维缺陷分类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数据集、17</a:t>
            </a:r>
            <a:r>
              <a:rPr/>
              <a:t> </a:t>
            </a:r>
            <a:r>
              <a:rPr/>
              <a:t>组实验结果与下一步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2026-09-22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当前结论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整体基线是原版完整体积 3D ResNet18，首层卷积核为 7×3×3。</a:t>
            </a:r>
          </a:p>
          <a:p>
            <a:pPr lvl="1"/>
            <a:r>
              <a:rPr/>
              <a:t>Head40-733 是与原版基线比较的 Head40 主方法。三板 F1 从 86.50% 提高到 88.58%。</a:t>
            </a:r>
          </a:p>
          <a:p>
            <a:pPr lvl="1"/>
            <a:r>
              <a:rPr/>
              <a:t>Head40-533 是后续结构和加权实验的局部对照，不是整体基线。</a:t>
            </a:r>
          </a:p>
          <a:p>
            <a:pPr lvl="1"/>
            <a:r>
              <a:rPr/>
              <a:t>复杂结构和动态降权尚未稳定超过 Head40-733。主要难点是模糊缺陷漏检与板间差异。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数据集与任务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单个钻孔的三维 RAW 体积，正常/缺陷二分类：正常为 0，缺陷为 1。</a:t>
            </a:r>
          </a:p>
          <a:p>
            <a:pPr lvl="1"/>
            <a:r>
              <a:rPr/>
              <a:t>每个样本有对应二维图和来源记录。“清晰/模糊”是难度分组，不是第三类。</a:t>
            </a:r>
          </a:p>
          <a:p>
            <a:pPr lvl="1"/>
            <a:r>
              <a:rPr/>
              <a:t>Head40 由 TOML 的 </a:t>
            </a:r>
            <a:r>
              <a:rPr>
                <a:latin typeface="Courier"/>
              </a:rPr>
              <a:t>center2</a:t>
            </a:r>
            <a:r>
              <a:rPr/>
              <a:t>、</a:t>
            </a:r>
            <a:r>
              <a:rPr>
                <a:latin typeface="Courier"/>
              </a:rPr>
              <a:t>bHeadUp</a:t>
            </a:r>
            <a:r>
              <a:rPr/>
              <a:t> 定位，深度为 40；横截面有 29×29、37×37、49×49。</a:t>
            </a:r>
          </a:p>
          <a:p>
            <a:pPr lvl="1"/>
            <a:r>
              <a:rPr/>
              <a:t>输入前统一深度方向，每个样本独立进行 P1/P99 归一化。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训练池与独立测试集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板数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缺陷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总数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训练/验证池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3181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1183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4364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独立测试集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556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778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板级划分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训练池由原 14 板和新增 8 板组成，正常:缺陷约 2.69:1。</a:t>
            </a:r>
          </a:p>
          <a:p>
            <a:pPr lvl="1"/>
            <a:r>
              <a:rPr/>
              <a:t>独立测试板为 0024、0030、0031，与训练池板号隔离。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训练池的清晰/模糊分组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缺陷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合计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清晰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2257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588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2845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模糊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1068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分组标注说明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清晰正常 2257 个包含原清晰标记 2170 个和补入的 87 个真实正常样本。</a:t>
            </a:r>
          </a:p>
          <a:p>
            <a:pPr lvl="1"/>
            <a:r>
              <a:rPr/>
              <a:t>另有 451 个新增训练板缺陷未细分清晰/模糊，仍包含在训练和整体指标中，未强行归入分组表。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独立测试集的标注范围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三块测试板各有 130、116、532 个样本；0031 占测试集 68.4%。</a:t>
            </a:r>
          </a:p>
          <a:p>
            <a:pPr lvl="1"/>
            <a:r>
              <a:rPr/>
              <a:t>正常样本：清晰 418、模糊 138。</a:t>
            </a:r>
          </a:p>
          <a:p>
            <a:pPr lvl="1"/>
            <a:r>
              <a:rPr/>
              <a:t>缺陷样本：222 个均有“缺陷”标签，但未细分清晰或模糊。</a:t>
            </a:r>
          </a:p>
          <a:p>
            <a:pPr lvl="1"/>
            <a:r>
              <a:rPr/>
              <a:t>因此，当前不能从三板测试集直接统计模糊缺陷检出率，也不能断言测试集客观上没有模糊缺陷。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划分与评价口径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训练/验证池采用固定五折，每个样本只进入一次验证折。</a:t>
            </a:r>
          </a:p>
          <a:p>
            <a:pPr lvl="1"/>
            <a:r>
              <a:rPr/>
              <a:t>五折按孔划分，同一块板可同时出现在训练折和验证折；这不是未见板泛化评估。</a:t>
            </a:r>
          </a:p>
          <a:p>
            <a:pPr lvl="1"/>
            <a:r>
              <a:rPr/>
              <a:t>三块测试板与训练板隔离，但已用于多次方案比较，不再是完全未触碰的模型选择集。</a:t>
            </a:r>
          </a:p>
          <a:p>
            <a:pPr lvl="1"/>
            <a:r>
              <a:rPr/>
              <a:t>下列表格全部使用 </a:t>
            </a:r>
            <a:r>
              <a:rPr>
                <a:latin typeface="Courier"/>
              </a:rPr>
              <a:t>best_loss</a:t>
            </a:r>
            <a:r>
              <a:rPr/>
              <a:t> 检查点的五折指标算术均值。三板每折均预测同一批 778 个样本，不是 3890 个不同样本。</a:t>
            </a:r>
          </a:p>
          <a:p>
            <a:pPr lvl="1"/>
            <a:r>
              <a:rPr/>
              <a:t>表中 P/R/Sp 分别为缺陷精确率、缺陷召回率、正常特异度；AUC 为 ROC-AUC，AP 为平均精确率。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实验顺序与对照关系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原版完整体积 ResNet18：整体实验基线。</a:t>
            </a:r>
          </a:p>
          <a:p>
            <a:pPr lvl="1">
              <a:buAutoNum type="arabicPeriod"/>
            </a:pPr>
            <a:r>
              <a:rPr/>
              <a:t>Head40-733：保持原版 7×3×3 卷积核的 Head40 主方法。</a:t>
            </a:r>
          </a:p>
          <a:p>
            <a:pPr lvl="1">
              <a:buAutoNum type="arabicPeriod"/>
            </a:pPr>
            <a:r>
              <a:rPr/>
              <a:t>Head40-333 与 Head40-533：首层卷积核深度消融。</a:t>
            </a:r>
          </a:p>
          <a:p>
            <a:pPr lvl="1">
              <a:buAutoNum type="arabicPeriod"/>
            </a:pPr>
            <a:r>
              <a:rPr/>
              <a:t>ACB、Layer2、并行 stem、池化、Layer3 E1～E4：结构改动。</a:t>
            </a:r>
          </a:p>
          <a:p>
            <a:pPr lvl="1">
              <a:buAutoNum type="arabicPeriod"/>
            </a:pPr>
            <a:r>
              <a:rPr/>
              <a:t>模糊样本权重 0.5/0.0 与 RACW：训练损失改动。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方法</a:t>
            </a:r>
            <a:r>
              <a:rPr/>
              <a:t> </a:t>
            </a:r>
            <a:r>
              <a:rPr/>
              <a:t>01—04：输入与首层卷积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01 原版完整体积 ResNet18：不做 Head40 裁剪，首层卷积核 7×3×3；首层卷积和池化步幅均为 </a:t>
            </a:r>
            <a:r>
              <a:rPr>
                <a:latin typeface="Courier"/>
              </a:rPr>
              <a:t>(2,1,1)</a:t>
            </a:r>
            <a:r>
              <a:rPr/>
              <a:t>。</a:t>
            </a:r>
          </a:p>
          <a:p>
            <a:pPr lvl="1"/>
            <a:r>
              <a:rPr/>
              <a:t>02 Head40-733：裁剪钻头附近深度 40，保持 7×3×3 卷积核；首层卷积和池化步幅改为 </a:t>
            </a:r>
            <a:r>
              <a:rPr>
                <a:latin typeface="Courier"/>
              </a:rPr>
              <a:t>(1,1,1)</a:t>
            </a:r>
            <a:r>
              <a:rPr/>
              <a:t>，避免过早压缩深度。</a:t>
            </a:r>
          </a:p>
          <a:p>
            <a:pPr lvl="1"/>
            <a:r>
              <a:rPr/>
              <a:t>03 Head40-333：在 Head40-733 的设置下，把首层卷积核改为 3×3×3。</a:t>
            </a:r>
          </a:p>
          <a:p>
            <a:pPr lvl="1"/>
            <a:r>
              <a:rPr/>
              <a:t>04 Head40-533：把首层卷积核改为 5×3×3；也是后续 533 派生实验的局部对照。</a:t>
            </a:r>
          </a:p>
          <a:p>
            <a:pPr lvl="0" marL="0" indent="0">
              <a:buNone/>
            </a:pPr>
            <a:r>
              <a:rPr/>
              <a:t>完整体积与 Head40-733 的差异同时包含裁剪和浅层步幅调整，不能把全部收益单独归因于裁剪。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方法</a:t>
            </a:r>
            <a:r>
              <a:rPr/>
              <a:t> </a:t>
            </a:r>
            <a:r>
              <a:rPr/>
              <a:t>05—07：卷积和下采样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05 Head40-733 + ACB：仅将 Layer1 首块的第一个 3×3×3 卷积替换为 3×3×3、1×3×3、3×1×3、3×3×1 四分支卷积，分支经 BN 后相加。</a:t>
            </a:r>
          </a:p>
          <a:p>
            <a:pPr lvl="1"/>
            <a:r>
              <a:rPr/>
              <a:t>06 Head40-533 + Layer2 保留深度：Layer2 首块步幅从 </a:t>
            </a:r>
            <a:r>
              <a:rPr>
                <a:latin typeface="Courier"/>
              </a:rPr>
              <a:t>(2,2,2)</a:t>
            </a:r>
            <a:r>
              <a:rPr/>
              <a:t> 改为 </a:t>
            </a:r>
            <a:r>
              <a:rPr>
                <a:latin typeface="Courier"/>
              </a:rPr>
              <a:t>(1,2,2)</a:t>
            </a:r>
            <a:r>
              <a:rPr/>
              <a:t>，只在 H/W 下采样。</a:t>
            </a:r>
          </a:p>
          <a:p>
            <a:pPr lvl="1"/>
            <a:r>
              <a:rPr/>
              <a:t>07 并行首层卷积：以 3×3×3 和 5×1×1 两个卷积分支替代单个 5×3×3，两个 64 通道输出经 BN 后相加。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方法</a:t>
            </a:r>
            <a:r>
              <a:rPr/>
              <a:t> </a:t>
            </a:r>
            <a:r>
              <a:rPr/>
              <a:t>08—10：Layer4</a:t>
            </a:r>
            <a:r>
              <a:rPr/>
              <a:t> </a:t>
            </a:r>
            <a:r>
              <a:rPr/>
              <a:t>池化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08 横截面均值、深度最大池化：Layer4 特征先对 H/W 求均值，再沿 D 取最大值，得到 512 维分类向量。</a:t>
            </a:r>
          </a:p>
          <a:p>
            <a:pPr lvl="1"/>
            <a:r>
              <a:rPr/>
              <a:t>09 全局平均/最大池化拼接：Layer4 的全局平均池化 GAP 与全局最大池化 GMP 各输出 512 维，拼成 1024 维分类。</a:t>
            </a:r>
          </a:p>
          <a:p>
            <a:pPr lvl="1"/>
            <a:r>
              <a:rPr/>
              <a:t>10 全局平均/轴向最大池化拼接：将 512 维 GAP 与 512 维“先 H/W 均值、再 D 最大值”向量拼接分类。</a:t>
            </a:r>
          </a:p>
          <a:p>
            <a:pPr lvl="0" marL="0" indent="0">
              <a:buNone/>
            </a:pPr>
            <a:r>
              <a:rPr/>
              <a:t>以上三组均以 Head40-533 为局部对照，其他训练设置不变。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方法</a:t>
            </a:r>
            <a:r>
              <a:rPr/>
              <a:t> </a:t>
            </a:r>
            <a:r>
              <a:rPr/>
              <a:t>11—14：Layer3</a:t>
            </a:r>
            <a:r>
              <a:rPr/>
              <a:t> </a:t>
            </a:r>
            <a:r>
              <a:rPr/>
              <a:t>轴向辅助分支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E1：保留 Layer3→Layer4→GAP 主干；Layer3 辅助分支先做 H/W 均值，再用一维卷积 </a:t>
            </a:r>
            <a:r>
              <a:rPr>
                <a:latin typeface="Courier"/>
              </a:rPr>
              <a:t>k=1</a:t>
            </a:r>
            <a:r>
              <a:rPr/>
              <a:t> 投影到 128 通道，沿 D 最大池化，最后与主干 512 维特征拼接。</a:t>
            </a:r>
          </a:p>
          <a:p>
            <a:pPr lvl="1"/>
            <a:r>
              <a:rPr/>
              <a:t>E2：在 E1 的投影后增加一维卷积 </a:t>
            </a:r>
            <a:r>
              <a:rPr>
                <a:latin typeface="Courier"/>
              </a:rPr>
              <a:t>k=3</a:t>
            </a:r>
            <a:r>
              <a:rPr/>
              <a:t>，学习相邻深度位置关系。</a:t>
            </a:r>
          </a:p>
          <a:p>
            <a:pPr lvl="1"/>
            <a:r>
              <a:rPr/>
              <a:t>E3：将 E2 的单尺度卷积改为并行 </a:t>
            </a:r>
            <a:r>
              <a:rPr>
                <a:latin typeface="Courier"/>
              </a:rPr>
              <a:t>k=3</a:t>
            </a:r>
            <a:r>
              <a:rPr/>
              <a:t> 与 </a:t>
            </a:r>
            <a:r>
              <a:rPr>
                <a:latin typeface="Courier"/>
              </a:rPr>
              <a:t>k=5</a:t>
            </a:r>
            <a:r>
              <a:rPr/>
              <a:t>，各输出 64 通道后拼接。</a:t>
            </a:r>
          </a:p>
          <a:p>
            <a:pPr lvl="1"/>
            <a:r>
              <a:rPr/>
              <a:t>E4：在 E3 上增加 H/W 最大池化，与 H/W 均值拼接后再做轴向卷积。</a:t>
            </a:r>
          </a:p>
          <a:p>
            <a:pPr lvl="0" marL="0" indent="0">
              <a:buNone/>
            </a:pPr>
            <a:r>
              <a:rPr/>
              <a:t>四组最终都将 128 维辅助向量与 512 维主干向量拼成 640 维分类。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方法</a:t>
            </a:r>
            <a:r>
              <a:rPr/>
              <a:t> </a:t>
            </a:r>
            <a:r>
              <a:rPr/>
              <a:t>15—17：模糊样本损失权重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15 固定权重 0.5：保持 Head40-533 结构与标签不变，模糊样本交叉熵权重为 0.5，其他样本为 1.0。</a:t>
            </a:r>
          </a:p>
          <a:p>
            <a:pPr lvl="1"/>
            <a:r>
              <a:rPr/>
              <a:t>16 固定权重 0.0：同样仅改训练损失，模糊样本权重为 0，其他样本为 1.0。</a:t>
            </a:r>
          </a:p>
          <a:p>
            <a:pPr lvl="1"/>
            <a:r>
              <a:rPr/>
              <a:t>17 RACW：前 5 轮普通交叉熵；之后只对模糊样本按类中心可靠度动态加权，其他样本权重为 1.0。类中心只由明确清晰的高可靠训练样本建立。</a:t>
            </a:r>
          </a:p>
          <a:p>
            <a:pPr lvl="1"/>
            <a:r>
              <a:rPr/>
              <a:t>三组均以 Head40-533 普通交叉熵作为局部对照；测试时不使用样本权重。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五折验证结果</a:t>
            </a:r>
            <a:r>
              <a:rPr/>
              <a:t> </a:t>
            </a:r>
            <a:r>
              <a:rPr/>
              <a:t>01—04（%）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01</a:t>
                      </a:r>
                      <a:r>
                        <a:rPr/>
                        <a:t> </a:t>
                      </a:r>
                      <a:r>
                        <a:rPr/>
                        <a:t>原版基线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90.71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84.78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02</a:t>
                      </a:r>
                      <a:r>
                        <a:rPr/>
                        <a:t> </a:t>
                      </a:r>
                      <a:r>
                        <a:rPr/>
                        <a:t>Head40-733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03</a:t>
                      </a:r>
                      <a:r>
                        <a:rPr/>
                        <a:t> </a:t>
                      </a:r>
                      <a:r>
                        <a:rPr/>
                        <a:t>Head40-333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04</a:t>
                      </a:r>
                      <a:r>
                        <a:rPr/>
                        <a:t> </a:t>
                      </a:r>
                      <a:r>
                        <a:rPr/>
                        <a:t>Head40-533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90.23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96.03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五折验证结果</a:t>
            </a:r>
            <a:r>
              <a:rPr/>
              <a:t> </a:t>
            </a:r>
            <a:r>
              <a:rPr/>
              <a:t>05—08（%）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05</a:t>
                      </a:r>
                      <a:r>
                        <a:rPr/>
                        <a:t> </a:t>
                      </a:r>
                      <a:r>
                        <a:rPr/>
                        <a:t>733+ACB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06</a:t>
                      </a:r>
                      <a:r>
                        <a:rPr/>
                        <a:t> </a:t>
                      </a:r>
                      <a:r>
                        <a:rPr/>
                        <a:t>Layer2保深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84.87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07</a:t>
                      </a:r>
                      <a:r>
                        <a:rPr/>
                        <a:t> </a:t>
                      </a:r>
                      <a:r>
                        <a:rPr/>
                        <a:t>并行stem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08</a:t>
                      </a:r>
                      <a:r>
                        <a:rPr/>
                        <a:t> </a:t>
                      </a:r>
                      <a:r>
                        <a:rPr/>
                        <a:t>H/W均值+D最大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90.95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85.71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五折验证结果</a:t>
            </a:r>
            <a:r>
              <a:rPr/>
              <a:t> </a:t>
            </a:r>
            <a:r>
              <a:rPr/>
              <a:t>09—12（%）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09</a:t>
                      </a:r>
                      <a:r>
                        <a:rPr/>
                        <a:t> </a:t>
                      </a:r>
                      <a:r>
                        <a:rPr/>
                        <a:t>GAP+GMP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</a:t>
                      </a:r>
                      <a:r>
                        <a:rPr/>
                        <a:t> </a:t>
                      </a:r>
                      <a:r>
                        <a:rPr/>
                        <a:t>GAP+轴向最大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11</a:t>
                      </a:r>
                      <a:r>
                        <a:rPr/>
                        <a:t> </a:t>
                      </a:r>
                      <a:r>
                        <a:rPr/>
                        <a:t>Layer3</a:t>
                      </a:r>
                      <a:r>
                        <a:rPr/>
                        <a:t> </a:t>
                      </a:r>
                      <a:r>
                        <a:rPr/>
                        <a:t>E1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85.54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</a:t>
                      </a:r>
                      <a:r>
                        <a:rPr/>
                        <a:t> </a:t>
                      </a:r>
                      <a:r>
                        <a:rPr/>
                        <a:t>Layer3</a:t>
                      </a:r>
                      <a:r>
                        <a:rPr/>
                        <a:t> </a:t>
                      </a:r>
                      <a:r>
                        <a:rPr/>
                        <a:t>E2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五折验证结果</a:t>
            </a:r>
            <a:r>
              <a:rPr/>
              <a:t> </a:t>
            </a:r>
            <a:r>
              <a:rPr/>
              <a:t>13—17（%）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13</a:t>
                      </a:r>
                      <a:r>
                        <a:rPr/>
                        <a:t> </a:t>
                      </a:r>
                      <a:r>
                        <a:rPr/>
                        <a:t>Layer3</a:t>
                      </a:r>
                      <a:r>
                        <a:rPr/>
                        <a:t> </a:t>
                      </a:r>
                      <a:r>
                        <a:rPr/>
                        <a:t>E3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85.37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</a:t>
                      </a:r>
                      <a:r>
                        <a:rPr/>
                        <a:t> </a:t>
                      </a:r>
                      <a:r>
                        <a:rPr/>
                        <a:t>Layer3</a:t>
                      </a:r>
                      <a:r>
                        <a:rPr/>
                        <a:t> </a:t>
                      </a:r>
                      <a:r>
                        <a:rPr/>
                        <a:t>E4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85.97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</a:t>
                      </a:r>
                      <a:r>
                        <a:rPr/>
                        <a:t> </a:t>
                      </a:r>
                      <a:r>
                        <a:rPr/>
                        <a:t>模糊权重0.5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16</a:t>
                      </a:r>
                      <a:r>
                        <a:rPr/>
                        <a:t> </a:t>
                      </a:r>
                      <a:r>
                        <a:rPr/>
                        <a:t>模糊权重0.0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83.01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17</a:t>
                      </a:r>
                      <a:r>
                        <a:rPr/>
                        <a:t> </a:t>
                      </a:r>
                      <a:r>
                        <a:rPr/>
                        <a:t>RACW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独立三板结果</a:t>
            </a:r>
            <a:r>
              <a:rPr/>
              <a:t> </a:t>
            </a:r>
            <a:r>
              <a:rPr/>
              <a:t>01—04（%）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01</a:t>
                      </a:r>
                      <a:r>
                        <a:rPr/>
                        <a:t> </a:t>
                      </a:r>
                      <a:r>
                        <a:rPr/>
                        <a:t>原版基线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02</a:t>
                      </a:r>
                      <a:r>
                        <a:rPr/>
                        <a:t> </a:t>
                      </a:r>
                      <a:r>
                        <a:rPr/>
                        <a:t>Head40-733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90.09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03</a:t>
                      </a:r>
                      <a:r>
                        <a:rPr/>
                        <a:t> </a:t>
                      </a:r>
                      <a:r>
                        <a:rPr/>
                        <a:t>Head40-333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84.99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95.86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04</a:t>
                      </a:r>
                      <a:r>
                        <a:rPr/>
                        <a:t> </a:t>
                      </a:r>
                      <a:r>
                        <a:rPr/>
                        <a:t>Head40-533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独立三板结果</a:t>
            </a:r>
            <a:r>
              <a:rPr/>
              <a:t> </a:t>
            </a:r>
            <a:r>
              <a:rPr/>
              <a:t>05—08（%）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05</a:t>
                      </a:r>
                      <a:r>
                        <a:rPr/>
                        <a:t> </a:t>
                      </a:r>
                      <a:r>
                        <a:rPr/>
                        <a:t>733+ACB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90.18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06</a:t>
                      </a:r>
                      <a:r>
                        <a:rPr/>
                        <a:t> </a:t>
                      </a:r>
                      <a:r>
                        <a:rPr/>
                        <a:t>Layer2保深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07</a:t>
                      </a:r>
                      <a:r>
                        <a:rPr/>
                        <a:t> </a:t>
                      </a:r>
                      <a:r>
                        <a:rPr/>
                        <a:t>并行stem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08</a:t>
                      </a:r>
                      <a:r>
                        <a:rPr/>
                        <a:t> </a:t>
                      </a:r>
                      <a:r>
                        <a:rPr/>
                        <a:t>H/W均值+D最大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独立三板结果</a:t>
            </a:r>
            <a:r>
              <a:rPr/>
              <a:t> </a:t>
            </a:r>
            <a:r>
              <a:rPr/>
              <a:t>09—12（%）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09</a:t>
                      </a:r>
                      <a:r>
                        <a:rPr/>
                        <a:t> </a:t>
                      </a:r>
                      <a:r>
                        <a:rPr/>
                        <a:t>GAP+GMP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</a:t>
                      </a:r>
                      <a:r>
                        <a:rPr/>
                        <a:t> </a:t>
                      </a:r>
                      <a:r>
                        <a:rPr/>
                        <a:t>GAP+轴向最大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85.93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11</a:t>
                      </a:r>
                      <a:r>
                        <a:rPr/>
                        <a:t> </a:t>
                      </a:r>
                      <a:r>
                        <a:rPr/>
                        <a:t>Layer3</a:t>
                      </a:r>
                      <a:r>
                        <a:rPr/>
                        <a:t> </a:t>
                      </a:r>
                      <a:r>
                        <a:rPr/>
                        <a:t>E1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</a:t>
                      </a:r>
                      <a:r>
                        <a:rPr/>
                        <a:t> </a:t>
                      </a:r>
                      <a:r>
                        <a:rPr/>
                        <a:t>Layer3</a:t>
                      </a:r>
                      <a:r>
                        <a:rPr/>
                        <a:t> </a:t>
                      </a:r>
                      <a:r>
                        <a:rPr/>
                        <a:t>E2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95.63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独立三板结果</a:t>
            </a:r>
            <a:r>
              <a:rPr/>
              <a:t> </a:t>
            </a:r>
            <a:r>
              <a:rPr/>
              <a:t>13—17（%）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13</a:t>
                      </a:r>
                      <a:r>
                        <a:rPr/>
                        <a:t> </a:t>
                      </a:r>
                      <a:r>
                        <a:rPr/>
                        <a:t>Layer3</a:t>
                      </a:r>
                      <a:r>
                        <a:rPr/>
                        <a:t> </a:t>
                      </a:r>
                      <a:r>
                        <a:rPr/>
                        <a:t>E3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</a:t>
                      </a:r>
                      <a:r>
                        <a:rPr/>
                        <a:t> </a:t>
                      </a:r>
                      <a:r>
                        <a:rPr/>
                        <a:t>Layer3</a:t>
                      </a:r>
                      <a:r>
                        <a:rPr/>
                        <a:t> </a:t>
                      </a:r>
                      <a:r>
                        <a:rPr/>
                        <a:t>E4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87.78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</a:t>
                      </a:r>
                      <a:r>
                        <a:rPr/>
                        <a:t> </a:t>
                      </a:r>
                      <a:r>
                        <a:rPr/>
                        <a:t>模糊权重0.5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85.05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92.07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16</a:t>
                      </a:r>
                      <a:r>
                        <a:rPr/>
                        <a:t> </a:t>
                      </a:r>
                      <a:r>
                        <a:rPr/>
                        <a:t>模糊权重0.0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84.94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84.50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84.62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17</a:t>
                      </a:r>
                      <a:r>
                        <a:rPr/>
                        <a:t> </a:t>
                      </a:r>
                      <a:r>
                        <a:rPr/>
                        <a:t>RACW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93.14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86.22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88.26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94.21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98.19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96.03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原版基线与</a:t>
            </a:r>
            <a:r>
              <a:rPr/>
              <a:t> </a:t>
            </a:r>
            <a:r>
              <a:rPr/>
              <a:t>Head40-733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五折 F1：原版基线 87.64%，Head40-733 为 88.86%，提高 1.22 个百分点。</a:t>
            </a:r>
          </a:p>
          <a:p>
            <a:pPr lvl="1"/>
            <a:r>
              <a:rPr/>
              <a:t>独立三板 F1：原版基线 86.50%，Head40-733 为 88.58%，提高 2.08 个百分点。</a:t>
            </a:r>
          </a:p>
          <a:p>
            <a:pPr lvl="1"/>
            <a:r>
              <a:rPr/>
              <a:t>完整体积与 Head40-733 同为 7×3×3 首层卷积，但输入裁剪和浅层深度步幅都发生变化。</a:t>
            </a:r>
          </a:p>
          <a:p>
            <a:pPr lvl="1"/>
            <a:r>
              <a:rPr/>
              <a:t>结果支持整套 Head40 方案优于原版；不能把差异全部归因于裁剪本身。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首层卷积及复杂结构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733 与 533 的五折 F1 为 88.86% 与 88.88%，接近；三板 F1 为 88.58% 与 88.26%。</a:t>
            </a:r>
          </a:p>
          <a:p>
            <a:pPr lvl="1"/>
            <a:r>
              <a:rPr/>
              <a:t>GAP+轴向最大池化在五折达到最高 F1 89.27%，三板却降至 87.69%。</a:t>
            </a:r>
          </a:p>
          <a:p>
            <a:pPr lvl="1"/>
            <a:r>
              <a:rPr/>
              <a:t>E1～E4 三板 F1 为 87.71%～88.05%，均低于 Head40-733 的 88.58%。</a:t>
            </a:r>
          </a:p>
          <a:p>
            <a:pPr lvl="1"/>
            <a:r>
              <a:rPr/>
              <a:t>扩展实验应先与其 533 局部对照比较，再与原版整体基线及 Head40-733 主方法比较。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模糊样本的折外预测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533方案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清晰正常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模糊正常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清晰缺陷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模糊缺陷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权重1.0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2223/2257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846/924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571/588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79/144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权重0.5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2221/2257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837/924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572/588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75/144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权重0.0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2234/2257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835/924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571/588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43/144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RACW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2230/2257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853/924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571/588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67/144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模糊样本实验的解释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533 局部对照对清晰缺陷检出 97.11%，对模糊缺陷仅检出 79/144，即 54.86%。</a:t>
            </a:r>
          </a:p>
          <a:p>
            <a:pPr lvl="1"/>
            <a:r>
              <a:rPr/>
              <a:t>模糊权重降到 0 后，模糊缺陷只检出 43/144；五折 F1 比 533 局部对照低 2.61 个百分点，三板低 3.64 个百分点。</a:t>
            </a:r>
          </a:p>
          <a:p>
            <a:pPr lvl="1"/>
            <a:r>
              <a:rPr/>
              <a:t>权重 0.5 的三板 Recall 从 90.45% 到 92.07%，但 Precision 与 Specificity 下降，属于误报和漏报之间的取舍。</a:t>
            </a:r>
          </a:p>
          <a:p>
            <a:pPr lvl="1"/>
            <a:r>
              <a:rPr/>
              <a:t>RACW 对模糊正常多判对 7 个，对模糊缺陷少检出 12 个；整体 F1 未提高。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Head40-733</a:t>
            </a:r>
            <a:r>
              <a:rPr/>
              <a:t> </a:t>
            </a:r>
            <a:r>
              <a:rPr/>
              <a:t>的测试板差异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板号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样本数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缺陷</a:t>
                      </a:r>
                      <a:r>
                        <a:rPr/>
                        <a:t> </a:t>
                      </a:r>
                      <a:r>
                        <a:rPr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正常</a:t>
                      </a:r>
                      <a:r>
                        <a:rPr/>
                        <a:t> </a:t>
                      </a:r>
                      <a:r>
                        <a:rPr/>
                        <a:t>Specificity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84.02%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77.30%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97.42%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0030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77.60%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80.00%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89.64%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0031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532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91.92%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95.39%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95.11%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板间差异的解释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0031 样本数最多，合并指标受其影响较大。</a:t>
            </a:r>
          </a:p>
          <a:p>
            <a:pPr lvl="1"/>
            <a:r>
              <a:rPr/>
              <a:t>0030 的 F1 和正常特异度较低，需单独核查漏检和误报。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下一步：先解决困难样本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固定原版完整体积模型为整体基线，Head40-733 为 Head40 主方法；533 派生实验保留 533 普通交叉熵作为局部对照。</a:t>
            </a:r>
          </a:p>
          <a:p>
            <a:pPr lvl="1">
              <a:buAutoNum type="arabicPeriod"/>
            </a:pPr>
            <a:r>
              <a:rPr/>
              <a:t>汇总五折 OOF 中 144 个模糊缺陷的漏检，结合二维图、三维 Head40 裁剪及预测概率进行人工复核。</a:t>
            </a:r>
          </a:p>
          <a:p>
            <a:pPr lvl="1">
              <a:buAutoNum type="arabicPeriod"/>
            </a:pPr>
            <a:r>
              <a:rPr/>
              <a:t>对新增 8 板的 451 个训练缺陷和三板的 222 个测试缺陷，若需要清晰/模糊分组，应先人工补标，不能凭模型错误或来源目录自动指定。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下一步：训练与外部验证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按已有 IDO-GS 方案先完成第一阶段普通 CE 五折训练和逐轮错误统计，再运行 BMM 诊断。</a:t>
            </a:r>
          </a:p>
          <a:p>
            <a:pPr lvl="1">
              <a:buAutoNum type="arabicPeriod"/>
            </a:pPr>
            <a:r>
              <a:rPr/>
              <a:t>只有预设结构门和模糊缺陷监督风险门通过，才比较 IDO-GS 与同预算 CE 续训；目前没有正式五折 IDO-GS 结果。</a:t>
            </a:r>
          </a:p>
          <a:p>
            <a:pPr lvl="1">
              <a:buAutoNum type="arabicPeriod"/>
            </a:pPr>
            <a:r>
              <a:rPr/>
              <a:t>新增从未参与模型选择的板，尤其纳入复核后的模糊缺陷；固定模型和阈值后报告每板指标与漏检数。</a:t>
            </a:r>
          </a:p>
          <a:p>
            <a:pPr lvl="1">
              <a:buAutoNum type="arabicPeriod"/>
            </a:pPr>
            <a:r>
              <a:rPr/>
              <a:t>当前三板已用于多次比较，后续阈值探索不能再称为盲测。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报告口径与来源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本报告只纳入当前 22+3 板协议下、有完整五折验证和三板测试结果的 17 组实验。</a:t>
            </a:r>
          </a:p>
          <a:p>
            <a:pPr lvl="1"/>
            <a:r>
              <a:rPr/>
              <a:t>验证结果与三板测试结果分别报告；表中均为 </a:t>
            </a:r>
            <a:r>
              <a:rPr>
                <a:latin typeface="Courier"/>
              </a:rPr>
              <a:t>best_loss</a:t>
            </a:r>
            <a:r>
              <a:rPr/>
              <a:t> 五折算术均值。</a:t>
            </a:r>
          </a:p>
          <a:p>
            <a:pPr lvl="1"/>
            <a:r>
              <a:rPr/>
              <a:t>OOF 分组统计与五折均值是不同口径，不能混作一个指标。</a:t>
            </a:r>
          </a:p>
          <a:p>
            <a:pPr lvl="1"/>
            <a:r>
              <a:rPr/>
              <a:t>小幅差异尚无配对不确定性分析，不宣称统计显著。</a:t>
            </a:r>
          </a:p>
          <a:p>
            <a:pPr lvl="1"/>
            <a:r>
              <a:rPr/>
              <a:t>数据、方法和结果依据同目录下的《多板数据集_组会汇报_实验汇总与下一步_2026-09-22.md》及 H 盘多板实验结果。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多板钻孔三维缺陷分类</dc:title>
  <dc:creator/>
  <cp:keywords/>
  <dcterms:created xsi:type="dcterms:W3CDTF">2026-09-22T02:30:31Z</dcterms:created>
  <dcterms:modified xsi:type="dcterms:W3CDTF">2026-09-22T02:30:31Z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2026-09-22</vt:lpwstr>
  </property>
  <property fmtid="{D5CDD505-2E9C-101B-9397-08002B2CF9AE}" pid="3" name="subtitle">
    <vt:lpwstr>数据集、17 组实验结果与下一步</vt:lpwstr>
  </property>
</Properties>
</file>